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0080"/>
            <a:ext cx="11091672" cy="1828800"/>
          </a:xfrm>
          <a:prstGeom prst="roundRect">
            <a:avLst>
              <a:gd name="adj" fmla="val 6000"/>
            </a:avLst>
          </a:prstGeom>
          <a:solidFill>
            <a:srgbClr val="9E0059"/>
          </a:solidFill>
          <a:ln/>
        </p:spPr>
      </p:sp>
      <p:sp>
        <p:nvSpPr>
          <p:cNvPr id="3" name="Text 1"/>
          <p:cNvSpPr txBox="1"/>
          <p:nvPr/>
        </p:nvSpPr>
        <p:spPr>
          <a:xfrm>
            <a:off x="914400" y="822960"/>
            <a:ext cx="10332720" cy="640080"/>
          </a:xfrm>
          <a:prstGeom prst="rect">
            <a:avLst/>
          </a:prstGeom>
          <a:noFill/>
          <a:ln/>
        </p:spPr>
        <p:txBody>
          <a:bodyPr wrap="square" rtlCol="0" anchor="ctr"/>
          <a:lstStyle/>
          <a:p>
            <a:pPr algn="ctr" indent="0" marL="0">
              <a:buNone/>
            </a:pPr>
            <a:r>
              <a:rPr lang="en-US" sz="2600" dirty="0">
                <a:solidFill>
                  <a:srgbClr val="FFFFFF"/>
                </a:solidFill>
                <a:latin typeface="Calibri" pitchFamily="34" charset="0"/>
                <a:ea typeface="Calibri" pitchFamily="34" charset="-122"/>
                <a:cs typeface="Calibri" pitchFamily="34" charset="-120"/>
              </a:rPr>
              <a:t>Credit Card Fraud Detection under Class Imbalance:</a:t>
            </a:r>
            <a:endParaRPr lang="en-US" sz="2600" dirty="0"/>
          </a:p>
        </p:txBody>
      </p:sp>
      <p:sp>
        <p:nvSpPr>
          <p:cNvPr id="4" name="Text 2"/>
          <p:cNvSpPr txBox="1"/>
          <p:nvPr/>
        </p:nvSpPr>
        <p:spPr>
          <a:xfrm>
            <a:off x="914400" y="1371600"/>
            <a:ext cx="10332720" cy="50292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Is Balancing the Training Data Necessary?</a:t>
            </a:r>
            <a:endParaRPr lang="en-US" sz="2200" dirty="0"/>
          </a:p>
        </p:txBody>
      </p:sp>
      <p:sp>
        <p:nvSpPr>
          <p:cNvPr id="5" name="Text 3"/>
          <p:cNvSpPr txBox="1"/>
          <p:nvPr/>
        </p:nvSpPr>
        <p:spPr>
          <a:xfrm>
            <a:off x="914400" y="1874520"/>
            <a:ext cx="10332720" cy="457200"/>
          </a:xfrm>
          <a:prstGeom prst="rect">
            <a:avLst/>
          </a:prstGeom>
          <a:noFill/>
          <a:ln/>
        </p:spPr>
        <p:txBody>
          <a:bodyPr wrap="square" rtlCol="0" anchor="ctr"/>
          <a:lstStyle/>
          <a:p>
            <a:pPr algn="ctr" indent="0" marL="0">
              <a:buNone/>
            </a:pPr>
            <a:r>
              <a:rPr lang="en-US" sz="1400" i="1" dirty="0">
                <a:solidFill>
                  <a:srgbClr val="F3D6E4"/>
                </a:solidFill>
                <a:latin typeface="Calibri" pitchFamily="34" charset="0"/>
                <a:ea typeface="Calibri" pitchFamily="34" charset="-122"/>
                <a:cs typeface="Calibri" pitchFamily="34" charset="-120"/>
              </a:rPr>
              <a:t>MSc Data Science and Artificial Intelligence: Research Project Presentation</a:t>
            </a:r>
            <a:endParaRPr lang="en-US" sz="1400" dirty="0"/>
          </a:p>
        </p:txBody>
      </p:sp>
      <p:sp>
        <p:nvSpPr>
          <p:cNvPr id="6" name="Text 4"/>
          <p:cNvSpPr txBox="1"/>
          <p:nvPr/>
        </p:nvSpPr>
        <p:spPr>
          <a:xfrm>
            <a:off x="1828800" y="3017520"/>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Student Name</a:t>
            </a:r>
            <a:endParaRPr lang="en-US" sz="1300" dirty="0"/>
          </a:p>
        </p:txBody>
      </p:sp>
      <p:sp>
        <p:nvSpPr>
          <p:cNvPr id="7" name="Text 5"/>
          <p:cNvSpPr txBox="1"/>
          <p:nvPr/>
        </p:nvSpPr>
        <p:spPr>
          <a:xfrm>
            <a:off x="4663440" y="3017520"/>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Priyam Patel Vikasbhai</a:t>
            </a:r>
            <a:endParaRPr lang="en-US" sz="1300" dirty="0"/>
          </a:p>
        </p:txBody>
      </p:sp>
      <p:sp>
        <p:nvSpPr>
          <p:cNvPr id="8" name="Text 6"/>
          <p:cNvSpPr txBox="1"/>
          <p:nvPr/>
        </p:nvSpPr>
        <p:spPr>
          <a:xfrm>
            <a:off x="1828800" y="3419856"/>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Student Email</a:t>
            </a:r>
            <a:endParaRPr lang="en-US" sz="1300" dirty="0"/>
          </a:p>
        </p:txBody>
      </p:sp>
      <p:sp>
        <p:nvSpPr>
          <p:cNvPr id="9" name="Text 7"/>
          <p:cNvSpPr txBox="1"/>
          <p:nvPr/>
        </p:nvSpPr>
        <p:spPr>
          <a:xfrm>
            <a:off x="4663440" y="3419856"/>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[Insert SHU student email]</a:t>
            </a:r>
            <a:endParaRPr lang="en-US" sz="1300" dirty="0"/>
          </a:p>
        </p:txBody>
      </p:sp>
      <p:sp>
        <p:nvSpPr>
          <p:cNvPr id="10" name="Text 8"/>
          <p:cNvSpPr txBox="1"/>
          <p:nvPr/>
        </p:nvSpPr>
        <p:spPr>
          <a:xfrm>
            <a:off x="1828800" y="3822192"/>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School</a:t>
            </a:r>
            <a:endParaRPr lang="en-US" sz="1300" dirty="0"/>
          </a:p>
        </p:txBody>
      </p:sp>
      <p:sp>
        <p:nvSpPr>
          <p:cNvPr id="11" name="Text 9"/>
          <p:cNvSpPr txBox="1"/>
          <p:nvPr/>
        </p:nvSpPr>
        <p:spPr>
          <a:xfrm>
            <a:off x="4663440" y="3822192"/>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School of Computing and Digital Technologies</a:t>
            </a:r>
            <a:endParaRPr lang="en-US" sz="1300" dirty="0"/>
          </a:p>
        </p:txBody>
      </p:sp>
      <p:sp>
        <p:nvSpPr>
          <p:cNvPr id="12" name="Text 10"/>
          <p:cNvSpPr txBox="1"/>
          <p:nvPr/>
        </p:nvSpPr>
        <p:spPr>
          <a:xfrm>
            <a:off x="1828800" y="4224528"/>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College</a:t>
            </a:r>
            <a:endParaRPr lang="en-US" sz="1300" dirty="0"/>
          </a:p>
        </p:txBody>
      </p:sp>
      <p:sp>
        <p:nvSpPr>
          <p:cNvPr id="13" name="Text 11"/>
          <p:cNvSpPr txBox="1"/>
          <p:nvPr/>
        </p:nvSpPr>
        <p:spPr>
          <a:xfrm>
            <a:off x="4663440" y="4224528"/>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College of Business, Technology and Engineering (BTE)</a:t>
            </a:r>
            <a:endParaRPr lang="en-US" sz="1300" dirty="0"/>
          </a:p>
        </p:txBody>
      </p:sp>
      <p:sp>
        <p:nvSpPr>
          <p:cNvPr id="14" name="Text 12"/>
          <p:cNvSpPr txBox="1"/>
          <p:nvPr/>
        </p:nvSpPr>
        <p:spPr>
          <a:xfrm>
            <a:off x="1828800" y="4626864"/>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University</a:t>
            </a:r>
            <a:endParaRPr lang="en-US" sz="1300" dirty="0"/>
          </a:p>
        </p:txBody>
      </p:sp>
      <p:sp>
        <p:nvSpPr>
          <p:cNvPr id="15" name="Text 13"/>
          <p:cNvSpPr txBox="1"/>
          <p:nvPr/>
        </p:nvSpPr>
        <p:spPr>
          <a:xfrm>
            <a:off x="4663440" y="4626864"/>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Sheffield Hallam University</a:t>
            </a:r>
            <a:endParaRPr lang="en-US" sz="1300" dirty="0"/>
          </a:p>
        </p:txBody>
      </p:sp>
      <p:sp>
        <p:nvSpPr>
          <p:cNvPr id="16" name="Text 14"/>
          <p:cNvSpPr txBox="1"/>
          <p:nvPr/>
        </p:nvSpPr>
        <p:spPr>
          <a:xfrm>
            <a:off x="1828800" y="5029200"/>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Supervisor</a:t>
            </a:r>
            <a:endParaRPr lang="en-US" sz="1300" dirty="0"/>
          </a:p>
        </p:txBody>
      </p:sp>
      <p:sp>
        <p:nvSpPr>
          <p:cNvPr id="17" name="Text 15"/>
          <p:cNvSpPr txBox="1"/>
          <p:nvPr/>
        </p:nvSpPr>
        <p:spPr>
          <a:xfrm>
            <a:off x="4663440" y="5029200"/>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Gregor Milligan</a:t>
            </a:r>
            <a:endParaRPr lang="en-US" sz="1300" dirty="0"/>
          </a:p>
        </p:txBody>
      </p:sp>
      <p:sp>
        <p:nvSpPr>
          <p:cNvPr id="18" name="Text 16"/>
          <p:cNvSpPr txBox="1"/>
          <p:nvPr/>
        </p:nvSpPr>
        <p:spPr>
          <a:xfrm>
            <a:off x="1828800" y="5431536"/>
            <a:ext cx="2743200" cy="384048"/>
          </a:xfrm>
          <a:prstGeom prst="rect">
            <a:avLst/>
          </a:prstGeom>
          <a:noFill/>
          <a:ln/>
        </p:spPr>
        <p:txBody>
          <a:bodyPr wrap="square" rtlCol="0" anchor="ctr"/>
          <a:lstStyle/>
          <a:p>
            <a:pPr indent="0" marL="0">
              <a:buNone/>
            </a:pPr>
            <a:r>
              <a:rPr lang="en-US" sz="1300" b="1" dirty="0">
                <a:solidFill>
                  <a:srgbClr val="700040"/>
                </a:solidFill>
                <a:latin typeface="Calibri" pitchFamily="34" charset="0"/>
                <a:ea typeface="Calibri" pitchFamily="34" charset="-122"/>
                <a:cs typeface="Calibri" pitchFamily="34" charset="-120"/>
              </a:rPr>
              <a:t>Date</a:t>
            </a:r>
            <a:endParaRPr lang="en-US" sz="1300" dirty="0"/>
          </a:p>
        </p:txBody>
      </p:sp>
      <p:sp>
        <p:nvSpPr>
          <p:cNvPr id="19" name="Text 17"/>
          <p:cNvSpPr txBox="1"/>
          <p:nvPr/>
        </p:nvSpPr>
        <p:spPr>
          <a:xfrm>
            <a:off x="4663440" y="5431536"/>
            <a:ext cx="5760720" cy="384048"/>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[Insert submission date]</a:t>
            </a:r>
            <a:endParaRPr lang="en-US" sz="1300" dirty="0"/>
          </a:p>
        </p:txBody>
      </p:sp>
      <p:sp>
        <p:nvSpPr>
          <p:cNvPr id="20" name="Shape 18"/>
          <p:cNvSpPr/>
          <p:nvPr/>
        </p:nvSpPr>
        <p:spPr>
          <a:xfrm>
            <a:off x="0" y="6547104"/>
            <a:ext cx="12188952" cy="310896"/>
          </a:xfrm>
          <a:prstGeom prst="rect">
            <a:avLst/>
          </a:prstGeom>
          <a:solidFill>
            <a:srgbClr val="9E0059"/>
          </a:solidFill>
          <a:ln/>
        </p:spPr>
      </p:sp>
      <p:sp>
        <p:nvSpPr>
          <p:cNvPr id="21" name="Text 19"/>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22" name="Text 20"/>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23" name="Text 21"/>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 / 37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Acknowledgements</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 / 37</a:t>
            </a:r>
            <a:endParaRPr lang="en-US" sz="900" dirty="0"/>
          </a:p>
        </p:txBody>
      </p:sp>
      <p:sp>
        <p:nvSpPr>
          <p:cNvPr id="8" name="Text 6"/>
          <p:cNvSpPr txBox="1"/>
          <p:nvPr/>
        </p:nvSpPr>
        <p:spPr>
          <a:xfrm>
            <a:off x="548640" y="1280160"/>
            <a:ext cx="11064240" cy="365760"/>
          </a:xfrm>
          <a:prstGeom prst="rect">
            <a:avLst/>
          </a:prstGeom>
          <a:noFill/>
          <a:ln/>
        </p:spPr>
        <p:txBody>
          <a:bodyPr wrap="square" rtlCol="0" anchor="ctr"/>
          <a:lstStyle/>
          <a:p>
            <a:pPr indent="0" marL="0">
              <a:buNone/>
            </a:pPr>
            <a:r>
              <a:rPr lang="en-US" sz="1600" b="1" dirty="0">
                <a:solidFill>
                  <a:srgbClr val="700040"/>
                </a:solidFill>
                <a:latin typeface="Calibri" pitchFamily="34" charset="0"/>
                <a:ea typeface="Calibri" pitchFamily="34" charset="-122"/>
                <a:cs typeface="Calibri" pitchFamily="34" charset="-120"/>
              </a:rPr>
              <a:t>Project Support Recognition</a:t>
            </a:r>
            <a:endParaRPr lang="en-US" sz="1600" dirty="0"/>
          </a:p>
        </p:txBody>
      </p:sp>
      <p:sp>
        <p:nvSpPr>
          <p:cNvPr id="9" name="Text 7"/>
          <p:cNvSpPr txBox="1"/>
          <p:nvPr/>
        </p:nvSpPr>
        <p:spPr>
          <a:xfrm>
            <a:off x="548640" y="1828800"/>
            <a:ext cx="11064240" cy="3200400"/>
          </a:xfrm>
          <a:prstGeom prst="rect">
            <a:avLst/>
          </a:prstGeom>
          <a:noFill/>
          <a:ln/>
        </p:spPr>
        <p:txBody>
          <a:bodyPr wrap="square" rtlCol="0" anchor="t"/>
          <a:lstStyle/>
          <a:p>
            <a:pPr indent="0" marL="0">
              <a:lnSpc>
                <a:spcPct val="120000"/>
              </a:lnSpc>
              <a:buNone/>
            </a:pPr>
            <a:r>
              <a:rPr lang="en-US" sz="1500" dirty="0">
                <a:solidFill>
                  <a:srgbClr val="222222"/>
                </a:solidFill>
                <a:latin typeface="Calibri" pitchFamily="34" charset="0"/>
                <a:ea typeface="Calibri" pitchFamily="34" charset="-122"/>
                <a:cs typeface="Calibri" pitchFamily="34" charset="-120"/>
              </a:rPr>
              <a:t>I thank my supervisor, Gregor Milligan, for steady guidance throughout this project — particularly for encouraging me to treat evaluation metrics and performance analysis as a topic in their own right, which led directly to the train-versus-test diagnostic that became this project's main contribution.</a:t>
            </a:r>
            <a:endParaRPr lang="en-US" sz="1500" dirty="0"/>
          </a:p>
          <a:p>
            <a:pPr indent="0" marL="0">
              <a:lnSpc>
                <a:spcPct val="120000"/>
              </a:lnSpc>
              <a:buNone/>
            </a:pPr>
            <a:endParaRPr lang="en-US" sz="1500" dirty="0"/>
          </a:p>
          <a:p>
            <a:pPr indent="0" marL="0">
              <a:lnSpc>
                <a:spcPct val="120000"/>
              </a:lnSpc>
              <a:buNone/>
            </a:pPr>
            <a:r>
              <a:rPr lang="en-US" sz="1500" dirty="0">
                <a:solidFill>
                  <a:srgbClr val="222222"/>
                </a:solidFill>
                <a:latin typeface="Calibri" pitchFamily="34" charset="0"/>
                <a:ea typeface="Calibri" pitchFamily="34" charset="-122"/>
                <a:cs typeface="Calibri" pitchFamily="34" charset="-120"/>
              </a:rPr>
              <a:t>I also thank the academic and technical staff of the department for the resources that made this project possible, and my fellow students for the discussions that helped me correct an early misreading of my own results. Finally, I thank my family for their patience while this project was completed.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Presentation Agenda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 / 37</a:t>
            </a:r>
            <a:endParaRPr lang="en-US" sz="900" dirty="0"/>
          </a:p>
        </p:txBody>
      </p:sp>
      <p:sp>
        <p:nvSpPr>
          <p:cNvPr id="8" name="Shape 6"/>
          <p:cNvSpPr/>
          <p:nvPr/>
        </p:nvSpPr>
        <p:spPr>
          <a:xfrm>
            <a:off x="731520" y="1463040"/>
            <a:ext cx="457200" cy="457200"/>
          </a:xfrm>
          <a:prstGeom prst="ellipse">
            <a:avLst/>
          </a:prstGeom>
          <a:solidFill>
            <a:srgbClr val="9E0059"/>
          </a:solidFill>
          <a:ln/>
        </p:spPr>
      </p:sp>
      <p:sp>
        <p:nvSpPr>
          <p:cNvPr id="9" name="Text 7"/>
          <p:cNvSpPr txBox="1"/>
          <p:nvPr/>
        </p:nvSpPr>
        <p:spPr>
          <a:xfrm>
            <a:off x="731520" y="14630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1371600" y="146304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Introduction</a:t>
            </a:r>
            <a:endParaRPr lang="en-US" sz="2000" dirty="0"/>
          </a:p>
        </p:txBody>
      </p:sp>
      <p:sp>
        <p:nvSpPr>
          <p:cNvPr id="11" name="Shape 9"/>
          <p:cNvSpPr/>
          <p:nvPr/>
        </p:nvSpPr>
        <p:spPr>
          <a:xfrm>
            <a:off x="731520" y="2331720"/>
            <a:ext cx="457200" cy="457200"/>
          </a:xfrm>
          <a:prstGeom prst="ellipse">
            <a:avLst/>
          </a:prstGeom>
          <a:solidFill>
            <a:srgbClr val="9E0059"/>
          </a:solidFill>
          <a:ln/>
        </p:spPr>
      </p:sp>
      <p:sp>
        <p:nvSpPr>
          <p:cNvPr id="12" name="Text 10"/>
          <p:cNvSpPr txBox="1"/>
          <p:nvPr/>
        </p:nvSpPr>
        <p:spPr>
          <a:xfrm>
            <a:off x="731520" y="2331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371600" y="233172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Literature Review</a:t>
            </a:r>
            <a:endParaRPr lang="en-US" sz="2000" dirty="0"/>
          </a:p>
        </p:txBody>
      </p:sp>
      <p:sp>
        <p:nvSpPr>
          <p:cNvPr id="14" name="Shape 12"/>
          <p:cNvSpPr/>
          <p:nvPr/>
        </p:nvSpPr>
        <p:spPr>
          <a:xfrm>
            <a:off x="731520" y="3200400"/>
            <a:ext cx="457200" cy="457200"/>
          </a:xfrm>
          <a:prstGeom prst="ellipse">
            <a:avLst/>
          </a:prstGeom>
          <a:solidFill>
            <a:srgbClr val="9E0059"/>
          </a:solidFill>
          <a:ln/>
        </p:spPr>
      </p:sp>
      <p:sp>
        <p:nvSpPr>
          <p:cNvPr id="15" name="Text 13"/>
          <p:cNvSpPr txBox="1"/>
          <p:nvPr/>
        </p:nvSpPr>
        <p:spPr>
          <a:xfrm>
            <a:off x="731520" y="32004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71600" y="320040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Research Methodology</a:t>
            </a:r>
            <a:endParaRPr lang="en-US" sz="2000" dirty="0"/>
          </a:p>
        </p:txBody>
      </p:sp>
      <p:sp>
        <p:nvSpPr>
          <p:cNvPr id="17" name="Shape 15"/>
          <p:cNvSpPr/>
          <p:nvPr/>
        </p:nvSpPr>
        <p:spPr>
          <a:xfrm>
            <a:off x="731520" y="4069080"/>
            <a:ext cx="457200" cy="457200"/>
          </a:xfrm>
          <a:prstGeom prst="ellipse">
            <a:avLst/>
          </a:prstGeom>
          <a:solidFill>
            <a:srgbClr val="9E0059"/>
          </a:solidFill>
          <a:ln/>
        </p:spPr>
      </p:sp>
      <p:sp>
        <p:nvSpPr>
          <p:cNvPr id="18" name="Text 16"/>
          <p:cNvSpPr txBox="1"/>
          <p:nvPr/>
        </p:nvSpPr>
        <p:spPr>
          <a:xfrm>
            <a:off x="731520" y="4069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1371600" y="406908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Ethics</a:t>
            </a:r>
            <a:endParaRPr lang="en-US" sz="2000" dirty="0"/>
          </a:p>
        </p:txBody>
      </p:sp>
      <p:sp>
        <p:nvSpPr>
          <p:cNvPr id="20" name="Shape 18"/>
          <p:cNvSpPr/>
          <p:nvPr/>
        </p:nvSpPr>
        <p:spPr>
          <a:xfrm>
            <a:off x="731520" y="4937760"/>
            <a:ext cx="457200" cy="457200"/>
          </a:xfrm>
          <a:prstGeom prst="ellipse">
            <a:avLst/>
          </a:prstGeom>
          <a:solidFill>
            <a:srgbClr val="9E0059"/>
          </a:solidFill>
          <a:ln/>
        </p:spPr>
      </p:sp>
      <p:sp>
        <p:nvSpPr>
          <p:cNvPr id="21" name="Text 19"/>
          <p:cNvSpPr txBox="1"/>
          <p:nvPr/>
        </p:nvSpPr>
        <p:spPr>
          <a:xfrm>
            <a:off x="731520" y="49377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371600" y="493776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Implementation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Presentation Agenda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4 / 37</a:t>
            </a:r>
            <a:endParaRPr lang="en-US" sz="900" dirty="0"/>
          </a:p>
        </p:txBody>
      </p:sp>
      <p:sp>
        <p:nvSpPr>
          <p:cNvPr id="8" name="Shape 6"/>
          <p:cNvSpPr/>
          <p:nvPr/>
        </p:nvSpPr>
        <p:spPr>
          <a:xfrm>
            <a:off x="731520" y="1463040"/>
            <a:ext cx="457200" cy="457200"/>
          </a:xfrm>
          <a:prstGeom prst="ellipse">
            <a:avLst/>
          </a:prstGeom>
          <a:solidFill>
            <a:srgbClr val="9E0059"/>
          </a:solidFill>
          <a:ln/>
        </p:spPr>
      </p:sp>
      <p:sp>
        <p:nvSpPr>
          <p:cNvPr id="9" name="Text 7"/>
          <p:cNvSpPr txBox="1"/>
          <p:nvPr/>
        </p:nvSpPr>
        <p:spPr>
          <a:xfrm>
            <a:off x="731520" y="14630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0" name="Text 8"/>
          <p:cNvSpPr txBox="1"/>
          <p:nvPr/>
        </p:nvSpPr>
        <p:spPr>
          <a:xfrm>
            <a:off x="1371600" y="146304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Results</a:t>
            </a:r>
            <a:endParaRPr lang="en-US" sz="2000" dirty="0"/>
          </a:p>
        </p:txBody>
      </p:sp>
      <p:sp>
        <p:nvSpPr>
          <p:cNvPr id="11" name="Shape 9"/>
          <p:cNvSpPr/>
          <p:nvPr/>
        </p:nvSpPr>
        <p:spPr>
          <a:xfrm>
            <a:off x="731520" y="2331720"/>
            <a:ext cx="457200" cy="457200"/>
          </a:xfrm>
          <a:prstGeom prst="ellipse">
            <a:avLst/>
          </a:prstGeom>
          <a:solidFill>
            <a:srgbClr val="9E0059"/>
          </a:solidFill>
          <a:ln/>
        </p:spPr>
      </p:sp>
      <p:sp>
        <p:nvSpPr>
          <p:cNvPr id="12" name="Text 10"/>
          <p:cNvSpPr txBox="1"/>
          <p:nvPr/>
        </p:nvSpPr>
        <p:spPr>
          <a:xfrm>
            <a:off x="731520" y="2331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13" name="Text 11"/>
          <p:cNvSpPr txBox="1"/>
          <p:nvPr/>
        </p:nvSpPr>
        <p:spPr>
          <a:xfrm>
            <a:off x="1371600" y="233172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Evaluation</a:t>
            </a:r>
            <a:endParaRPr lang="en-US" sz="2000" dirty="0"/>
          </a:p>
        </p:txBody>
      </p:sp>
      <p:sp>
        <p:nvSpPr>
          <p:cNvPr id="14" name="Shape 12"/>
          <p:cNvSpPr/>
          <p:nvPr/>
        </p:nvSpPr>
        <p:spPr>
          <a:xfrm>
            <a:off x="731520" y="3200400"/>
            <a:ext cx="457200" cy="457200"/>
          </a:xfrm>
          <a:prstGeom prst="ellipse">
            <a:avLst/>
          </a:prstGeom>
          <a:solidFill>
            <a:srgbClr val="9E0059"/>
          </a:solidFill>
          <a:ln/>
        </p:spPr>
      </p:sp>
      <p:sp>
        <p:nvSpPr>
          <p:cNvPr id="15" name="Text 13"/>
          <p:cNvSpPr txBox="1"/>
          <p:nvPr/>
        </p:nvSpPr>
        <p:spPr>
          <a:xfrm>
            <a:off x="731520" y="32004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16" name="Text 14"/>
          <p:cNvSpPr txBox="1"/>
          <p:nvPr/>
        </p:nvSpPr>
        <p:spPr>
          <a:xfrm>
            <a:off x="1371600" y="320040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Conclusion</a:t>
            </a:r>
            <a:endParaRPr lang="en-US" sz="2000" dirty="0"/>
          </a:p>
        </p:txBody>
      </p:sp>
      <p:sp>
        <p:nvSpPr>
          <p:cNvPr id="17" name="Shape 15"/>
          <p:cNvSpPr/>
          <p:nvPr/>
        </p:nvSpPr>
        <p:spPr>
          <a:xfrm>
            <a:off x="731520" y="4069080"/>
            <a:ext cx="457200" cy="457200"/>
          </a:xfrm>
          <a:prstGeom prst="ellipse">
            <a:avLst/>
          </a:prstGeom>
          <a:solidFill>
            <a:srgbClr val="9E0059"/>
          </a:solidFill>
          <a:ln/>
        </p:spPr>
      </p:sp>
      <p:sp>
        <p:nvSpPr>
          <p:cNvPr id="18" name="Text 16"/>
          <p:cNvSpPr txBox="1"/>
          <p:nvPr/>
        </p:nvSpPr>
        <p:spPr>
          <a:xfrm>
            <a:off x="731520" y="4069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19" name="Text 17"/>
          <p:cNvSpPr txBox="1"/>
          <p:nvPr/>
        </p:nvSpPr>
        <p:spPr>
          <a:xfrm>
            <a:off x="1371600" y="406908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References</a:t>
            </a:r>
            <a:endParaRPr lang="en-US" sz="2000" dirty="0"/>
          </a:p>
        </p:txBody>
      </p:sp>
      <p:sp>
        <p:nvSpPr>
          <p:cNvPr id="20" name="Shape 18"/>
          <p:cNvSpPr/>
          <p:nvPr/>
        </p:nvSpPr>
        <p:spPr>
          <a:xfrm>
            <a:off x="731520" y="4937760"/>
            <a:ext cx="457200" cy="457200"/>
          </a:xfrm>
          <a:prstGeom prst="ellipse">
            <a:avLst/>
          </a:prstGeom>
          <a:solidFill>
            <a:srgbClr val="9E0059"/>
          </a:solidFill>
          <a:ln/>
        </p:spPr>
      </p:sp>
      <p:sp>
        <p:nvSpPr>
          <p:cNvPr id="21" name="Text 19"/>
          <p:cNvSpPr txBox="1"/>
          <p:nvPr/>
        </p:nvSpPr>
        <p:spPr>
          <a:xfrm>
            <a:off x="731520" y="49377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22" name="Text 20"/>
          <p:cNvSpPr txBox="1"/>
          <p:nvPr/>
        </p:nvSpPr>
        <p:spPr>
          <a:xfrm>
            <a:off x="1371600" y="4937760"/>
            <a:ext cx="9601200" cy="457200"/>
          </a:xfrm>
          <a:prstGeom prst="rect">
            <a:avLst/>
          </a:prstGeom>
          <a:noFill/>
          <a:ln/>
        </p:spPr>
        <p:txBody>
          <a:bodyPr wrap="square" rtlCol="0" anchor="ctr"/>
          <a:lstStyle/>
          <a:p>
            <a:pPr indent="0" marL="0">
              <a:buNone/>
            </a:pPr>
            <a:r>
              <a:rPr lang="en-US" sz="2000" dirty="0">
                <a:solidFill>
                  <a:srgbClr val="222222"/>
                </a:solidFill>
                <a:latin typeface="Calibri" pitchFamily="34" charset="0"/>
                <a:ea typeface="Calibri" pitchFamily="34" charset="-122"/>
                <a:cs typeface="Calibri" pitchFamily="34" charset="-120"/>
              </a:rPr>
              <a:t>AI Declaration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1. Introduction</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5 / 37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 Framework, Aims &amp; Research Questions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6 / 37</a:t>
            </a:r>
            <a:endParaRPr lang="en-US" sz="900" dirty="0"/>
          </a:p>
        </p:txBody>
      </p:sp>
      <p:sp>
        <p:nvSpPr>
          <p:cNvPr id="8" name="Text 6"/>
          <p:cNvSpPr txBox="1"/>
          <p:nvPr/>
        </p:nvSpPr>
        <p:spPr>
          <a:xfrm>
            <a:off x="548640" y="1234440"/>
            <a:ext cx="11064240" cy="2834640"/>
          </a:xfrm>
          <a:prstGeom prst="rect">
            <a:avLst/>
          </a:prstGeom>
          <a:noFill/>
          <a:ln/>
        </p:spPr>
        <p:txBody>
          <a:bodyPr wrap="square" rtlCol="0" anchor="t"/>
          <a:lstStyle/>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Situation: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Card payments are authorised in milliseconds — the first line of defence against fraud is an automated model, not a human analyst. Fraud is a tiny minority of traffic: 0.58% of training transactions and 0.39% of test transactions, across 1,852,394 records in total.</a:t>
            </a:r>
            <a:endParaRPr lang="en-US" sz="1350" dirty="0"/>
          </a:p>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Complication: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Applied practice defaults to resampling the training data before fitting a model, yet a growing body of literature (Baisholan et al., 2025; Sakho et al., 2024) argues resampling inflates published performance and hides a threshold problem. No controlled, prevalence-preserving experiment has settled this disagreement.</a:t>
            </a:r>
            <a:endParaRPr lang="en-US" sz="1350" dirty="0"/>
          </a:p>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Resolution: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This project runs a controlled experiment — identical features, algorithms, hyperparameters and test set — changing only the training class ratio, then evaluates every model on one untouched, realistically imbalanced test partition.</a:t>
            </a:r>
            <a:endParaRPr lang="en-US" sz="1350" dirty="0"/>
          </a:p>
        </p:txBody>
      </p:sp>
      <p:sp>
        <p:nvSpPr>
          <p:cNvPr id="9" name="Shape 7"/>
          <p:cNvSpPr/>
          <p:nvPr/>
        </p:nvSpPr>
        <p:spPr>
          <a:xfrm>
            <a:off x="548640" y="4160520"/>
            <a:ext cx="11064240" cy="310896"/>
          </a:xfrm>
          <a:prstGeom prst="rect">
            <a:avLst/>
          </a:prstGeom>
          <a:solidFill>
            <a:srgbClr val="700040"/>
          </a:solidFill>
          <a:ln/>
        </p:spPr>
      </p:sp>
      <p:sp>
        <p:nvSpPr>
          <p:cNvPr id="10" name="Text 8"/>
          <p:cNvSpPr txBox="1"/>
          <p:nvPr/>
        </p:nvSpPr>
        <p:spPr>
          <a:xfrm>
            <a:off x="548640" y="416052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Questions</a:t>
            </a:r>
            <a:endParaRPr lang="en-US" sz="1300" dirty="0"/>
          </a:p>
        </p:txBody>
      </p:sp>
      <p:sp>
        <p:nvSpPr>
          <p:cNvPr id="11" name="Shape 9"/>
          <p:cNvSpPr/>
          <p:nvPr/>
        </p:nvSpPr>
        <p:spPr>
          <a:xfrm>
            <a:off x="548640" y="4471416"/>
            <a:ext cx="11064240" cy="1737360"/>
          </a:xfrm>
          <a:prstGeom prst="rect">
            <a:avLst/>
          </a:prstGeom>
          <a:solidFill>
            <a:srgbClr val="F7EAF1"/>
          </a:solidFill>
          <a:ln/>
        </p:spPr>
      </p:sp>
      <p:sp>
        <p:nvSpPr>
          <p:cNvPr id="12" name="Text 10"/>
          <p:cNvSpPr txBox="1"/>
          <p:nvPr/>
        </p:nvSpPr>
        <p:spPr>
          <a:xfrm>
            <a:off x="731520" y="4572000"/>
            <a:ext cx="10698480" cy="1554480"/>
          </a:xfrm>
          <a:prstGeom prst="rect">
            <a:avLst/>
          </a:prstGeom>
          <a:noFill/>
          <a:ln/>
        </p:spPr>
        <p:txBody>
          <a:bodyPr wrap="square" rtlCol="0" anchor="t"/>
          <a:lstStyle/>
          <a:p>
            <a:pPr marL="342900" indent="-342900">
              <a:lnSpc>
                <a:spcPct val="105000"/>
              </a:lnSpc>
              <a:spcAft>
                <a:spcPts val="800"/>
              </a:spcAft>
              <a:buSzPct val="100000"/>
              <a:buChar char="•"/>
            </a:pPr>
            <a:r>
              <a:rPr lang="en-US" sz="1350" b="1" dirty="0">
                <a:solidFill>
                  <a:srgbClr val="700040"/>
                </a:solidFill>
                <a:latin typeface="Calibri" pitchFamily="34" charset="0"/>
                <a:ea typeface="Calibri" pitchFamily="34" charset="-122"/>
                <a:cs typeface="Calibri" pitchFamily="34" charset="-120"/>
              </a:rPr>
              <a:t>RQ1: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Is it necessary or beneficial to balance the training data, or is training on the original imbalanced distribution preferable?</a:t>
            </a:r>
            <a:endParaRPr lang="en-US" sz="1350" dirty="0"/>
          </a:p>
          <a:p>
            <a:pPr marL="342900" indent="-342900">
              <a:lnSpc>
                <a:spcPct val="105000"/>
              </a:lnSpc>
              <a:spcAft>
                <a:spcPts val="800"/>
              </a:spcAft>
              <a:buSzPct val="100000"/>
              <a:buChar char="•"/>
            </a:pPr>
            <a:r>
              <a:rPr lang="en-US" sz="1350" b="1" dirty="0">
                <a:solidFill>
                  <a:srgbClr val="700040"/>
                </a:solidFill>
                <a:latin typeface="Calibri" pitchFamily="34" charset="0"/>
                <a:ea typeface="Calibri" pitchFamily="34" charset="-122"/>
                <a:cs typeface="Calibri" pitchFamily="34" charset="-120"/>
              </a:rPr>
              <a:t>RQ2: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When fraud labels are available, do supervised classifiers outperform classic unsupervised anomaly detectors, and by what margin?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 Aims, Objectives &amp; Course Alignment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7 / 37</a:t>
            </a:r>
            <a:endParaRPr lang="en-US" sz="900" dirty="0"/>
          </a:p>
        </p:txBody>
      </p:sp>
      <p:sp>
        <p:nvSpPr>
          <p:cNvPr id="8" name="Text 6"/>
          <p:cNvSpPr txBox="1"/>
          <p:nvPr/>
        </p:nvSpPr>
        <p:spPr>
          <a:xfrm>
            <a:off x="548640" y="1188720"/>
            <a:ext cx="11064240" cy="685800"/>
          </a:xfrm>
          <a:prstGeom prst="rect">
            <a:avLst/>
          </a:prstGeom>
          <a:noFill/>
          <a:ln/>
        </p:spPr>
        <p:txBody>
          <a:bodyPr wrap="square" rtlCol="0" anchor="t"/>
          <a:lstStyle/>
          <a:p>
            <a:pPr indent="0" marL="0">
              <a:lnSpc>
                <a:spcPct val="110000"/>
              </a:lnSpc>
              <a:buNone/>
            </a:pPr>
            <a:r>
              <a:rPr lang="en-US" sz="1350" b="1" dirty="0">
                <a:solidFill>
                  <a:srgbClr val="700040"/>
                </a:solidFill>
                <a:latin typeface="Calibri" pitchFamily="34" charset="0"/>
                <a:ea typeface="Calibri" pitchFamily="34" charset="-122"/>
                <a:cs typeface="Calibri" pitchFamily="34" charset="-120"/>
              </a:rPr>
              <a:t>Aim: </a:t>
            </a:r>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Determine, through a controlled experiment, whether balancing the training distribution improves fraud detection at realistic fraud rates, and how supervised classification compares with unsupervised anomaly detection when labels are available.</a:t>
            </a:r>
            <a:endParaRPr lang="en-US" sz="1350" dirty="0"/>
          </a:p>
        </p:txBody>
      </p:sp>
      <p:sp>
        <p:nvSpPr>
          <p:cNvPr id="9" name="Shape 7"/>
          <p:cNvSpPr/>
          <p:nvPr/>
        </p:nvSpPr>
        <p:spPr>
          <a:xfrm>
            <a:off x="548640" y="1965960"/>
            <a:ext cx="292608" cy="292608"/>
          </a:xfrm>
          <a:prstGeom prst="ellipse">
            <a:avLst/>
          </a:prstGeom>
          <a:solidFill>
            <a:srgbClr val="9E0059"/>
          </a:solidFill>
          <a:ln/>
        </p:spPr>
      </p:sp>
      <p:sp>
        <p:nvSpPr>
          <p:cNvPr id="10" name="Text 8"/>
          <p:cNvSpPr txBox="1"/>
          <p:nvPr/>
        </p:nvSpPr>
        <p:spPr>
          <a:xfrm>
            <a:off x="548640" y="196596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txBox="1"/>
          <p:nvPr/>
        </p:nvSpPr>
        <p:spPr>
          <a:xfrm>
            <a:off x="960120" y="194767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Review the literature on class imbalance in fraud detection.</a:t>
            </a:r>
            <a:endParaRPr lang="en-US" sz="1250" dirty="0"/>
          </a:p>
        </p:txBody>
      </p:sp>
      <p:sp>
        <p:nvSpPr>
          <p:cNvPr id="12" name="Shape 10"/>
          <p:cNvSpPr/>
          <p:nvPr/>
        </p:nvSpPr>
        <p:spPr>
          <a:xfrm>
            <a:off x="548640" y="2331720"/>
            <a:ext cx="292608" cy="292608"/>
          </a:xfrm>
          <a:prstGeom prst="ellipse">
            <a:avLst/>
          </a:prstGeom>
          <a:solidFill>
            <a:srgbClr val="9E0059"/>
          </a:solidFill>
          <a:ln/>
        </p:spPr>
      </p:sp>
      <p:sp>
        <p:nvSpPr>
          <p:cNvPr id="13" name="Text 11"/>
          <p:cNvSpPr txBox="1"/>
          <p:nvPr/>
        </p:nvSpPr>
        <p:spPr>
          <a:xfrm>
            <a:off x="548640" y="233172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960120" y="231343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Build a leakage-aware feature engineering pipeline from raw transactions.</a:t>
            </a:r>
            <a:endParaRPr lang="en-US" sz="1250" dirty="0"/>
          </a:p>
        </p:txBody>
      </p:sp>
      <p:sp>
        <p:nvSpPr>
          <p:cNvPr id="15" name="Shape 13"/>
          <p:cNvSpPr/>
          <p:nvPr/>
        </p:nvSpPr>
        <p:spPr>
          <a:xfrm>
            <a:off x="548640" y="2697480"/>
            <a:ext cx="292608" cy="292608"/>
          </a:xfrm>
          <a:prstGeom prst="ellipse">
            <a:avLst/>
          </a:prstGeom>
          <a:solidFill>
            <a:srgbClr val="9E0059"/>
          </a:solidFill>
          <a:ln/>
        </p:spPr>
      </p:sp>
      <p:sp>
        <p:nvSpPr>
          <p:cNvPr id="16" name="Text 14"/>
          <p:cNvSpPr txBox="1"/>
          <p:nvPr/>
        </p:nvSpPr>
        <p:spPr>
          <a:xfrm>
            <a:off x="548640" y="269748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960120" y="267919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Train Logistic Regression and Random Forest under original and Random-Under-Sampled regimes.</a:t>
            </a:r>
            <a:endParaRPr lang="en-US" sz="1250" dirty="0"/>
          </a:p>
        </p:txBody>
      </p:sp>
      <p:sp>
        <p:nvSpPr>
          <p:cNvPr id="18" name="Shape 16"/>
          <p:cNvSpPr/>
          <p:nvPr/>
        </p:nvSpPr>
        <p:spPr>
          <a:xfrm>
            <a:off x="548640" y="3063240"/>
            <a:ext cx="292608" cy="292608"/>
          </a:xfrm>
          <a:prstGeom prst="ellipse">
            <a:avLst/>
          </a:prstGeom>
          <a:solidFill>
            <a:srgbClr val="9E0059"/>
          </a:solidFill>
          <a:ln/>
        </p:spPr>
      </p:sp>
      <p:sp>
        <p:nvSpPr>
          <p:cNvPr id="19" name="Text 17"/>
          <p:cNvSpPr txBox="1"/>
          <p:nvPr/>
        </p:nvSpPr>
        <p:spPr>
          <a:xfrm>
            <a:off x="548640" y="306324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960120" y="304495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Evaluate all models on one untouched test partition using a six-metric suite.</a:t>
            </a:r>
            <a:endParaRPr lang="en-US" sz="1250" dirty="0"/>
          </a:p>
        </p:txBody>
      </p:sp>
      <p:sp>
        <p:nvSpPr>
          <p:cNvPr id="21" name="Shape 19"/>
          <p:cNvSpPr/>
          <p:nvPr/>
        </p:nvSpPr>
        <p:spPr>
          <a:xfrm>
            <a:off x="548640" y="3429000"/>
            <a:ext cx="292608" cy="292608"/>
          </a:xfrm>
          <a:prstGeom prst="ellipse">
            <a:avLst/>
          </a:prstGeom>
          <a:solidFill>
            <a:srgbClr val="9E0059"/>
          </a:solidFill>
          <a:ln/>
        </p:spPr>
      </p:sp>
      <p:sp>
        <p:nvSpPr>
          <p:cNvPr id="22" name="Text 20"/>
          <p:cNvSpPr txBox="1"/>
          <p:nvPr/>
        </p:nvSpPr>
        <p:spPr>
          <a:xfrm>
            <a:off x="548640" y="342900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960120" y="341071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Use train-versus-test gaps to separate overfitting from prior mismatch.</a:t>
            </a:r>
            <a:endParaRPr lang="en-US" sz="1250" dirty="0"/>
          </a:p>
        </p:txBody>
      </p:sp>
      <p:sp>
        <p:nvSpPr>
          <p:cNvPr id="24" name="Shape 22"/>
          <p:cNvSpPr/>
          <p:nvPr/>
        </p:nvSpPr>
        <p:spPr>
          <a:xfrm>
            <a:off x="548640" y="3794760"/>
            <a:ext cx="292608" cy="292608"/>
          </a:xfrm>
          <a:prstGeom prst="ellipse">
            <a:avLst/>
          </a:prstGeom>
          <a:solidFill>
            <a:srgbClr val="9E0059"/>
          </a:solidFill>
          <a:ln/>
        </p:spPr>
      </p:sp>
      <p:sp>
        <p:nvSpPr>
          <p:cNvPr id="25" name="Text 23"/>
          <p:cNvSpPr txBox="1"/>
          <p:nvPr/>
        </p:nvSpPr>
        <p:spPr>
          <a:xfrm>
            <a:off x="548640" y="379476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4"/>
          <p:cNvSpPr txBox="1"/>
          <p:nvPr/>
        </p:nvSpPr>
        <p:spPr>
          <a:xfrm>
            <a:off x="960120" y="3776472"/>
            <a:ext cx="10607040" cy="329184"/>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Benchmark unsupervised anomaly detectors against the supervised classifiers.</a:t>
            </a:r>
            <a:endParaRPr lang="en-US" sz="1250" dirty="0"/>
          </a:p>
        </p:txBody>
      </p:sp>
      <p:sp>
        <p:nvSpPr>
          <p:cNvPr id="27" name="Shape 25"/>
          <p:cNvSpPr/>
          <p:nvPr/>
        </p:nvSpPr>
        <p:spPr>
          <a:xfrm>
            <a:off x="548640" y="4251960"/>
            <a:ext cx="5349240" cy="310896"/>
          </a:xfrm>
          <a:prstGeom prst="rect">
            <a:avLst/>
          </a:prstGeom>
          <a:solidFill>
            <a:srgbClr val="700040"/>
          </a:solidFill>
          <a:ln/>
        </p:spPr>
      </p:sp>
      <p:sp>
        <p:nvSpPr>
          <p:cNvPr id="28" name="Text 26"/>
          <p:cNvSpPr txBox="1"/>
          <p:nvPr/>
        </p:nvSpPr>
        <p:spPr>
          <a:xfrm>
            <a:off x="548640" y="425196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Benefits &amp; Beneficiaries</a:t>
            </a:r>
            <a:endParaRPr lang="en-US" sz="1300" dirty="0"/>
          </a:p>
        </p:txBody>
      </p:sp>
      <p:sp>
        <p:nvSpPr>
          <p:cNvPr id="29" name="Shape 27"/>
          <p:cNvSpPr/>
          <p:nvPr/>
        </p:nvSpPr>
        <p:spPr>
          <a:xfrm>
            <a:off x="548640" y="4562856"/>
            <a:ext cx="5349240" cy="1609344"/>
          </a:xfrm>
          <a:prstGeom prst="rect">
            <a:avLst/>
          </a:prstGeom>
          <a:solidFill>
            <a:srgbClr val="F7EAF1"/>
          </a:solidFill>
          <a:ln/>
        </p:spPr>
      </p:sp>
      <p:sp>
        <p:nvSpPr>
          <p:cNvPr id="30" name="Text 28"/>
          <p:cNvSpPr txBox="1"/>
          <p:nvPr/>
        </p:nvSpPr>
        <p:spPr>
          <a:xfrm>
            <a:off x="685800" y="4654296"/>
            <a:ext cx="5074920" cy="1426464"/>
          </a:xfrm>
          <a:prstGeom prst="rect">
            <a:avLst/>
          </a:prstGeom>
          <a:noFill/>
          <a:ln/>
        </p:spPr>
        <p:txBody>
          <a:bodyPr wrap="square" rtlCol="0" anchor="t"/>
          <a:lstStyle/>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Card issuers gain lower fraud losses and a lighter review workload; merchants gain fewer chargebacks and fewer wrongly declined sales; cardholders gain less fraud exposure and less friction.</a:t>
            </a:r>
            <a:endParaRPr lang="en-US" sz="1250" dirty="0"/>
          </a:p>
        </p:txBody>
      </p:sp>
      <p:sp>
        <p:nvSpPr>
          <p:cNvPr id="31" name="Shape 29"/>
          <p:cNvSpPr/>
          <p:nvPr/>
        </p:nvSpPr>
        <p:spPr>
          <a:xfrm>
            <a:off x="6080760" y="4251960"/>
            <a:ext cx="5532120" cy="310896"/>
          </a:xfrm>
          <a:prstGeom prst="rect">
            <a:avLst/>
          </a:prstGeom>
          <a:solidFill>
            <a:srgbClr val="700040"/>
          </a:solidFill>
          <a:ln/>
        </p:spPr>
      </p:sp>
      <p:sp>
        <p:nvSpPr>
          <p:cNvPr id="32" name="Text 30"/>
          <p:cNvSpPr txBox="1"/>
          <p:nvPr/>
        </p:nvSpPr>
        <p:spPr>
          <a:xfrm>
            <a:off x="6080760" y="4251960"/>
            <a:ext cx="553212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Deliverable &amp; Course Alignment</a:t>
            </a:r>
            <a:endParaRPr lang="en-US" sz="1300" dirty="0"/>
          </a:p>
        </p:txBody>
      </p:sp>
      <p:sp>
        <p:nvSpPr>
          <p:cNvPr id="33" name="Shape 31"/>
          <p:cNvSpPr/>
          <p:nvPr/>
        </p:nvSpPr>
        <p:spPr>
          <a:xfrm>
            <a:off x="6080760" y="4562856"/>
            <a:ext cx="5532120" cy="1609344"/>
          </a:xfrm>
          <a:prstGeom prst="rect">
            <a:avLst/>
          </a:prstGeom>
          <a:solidFill>
            <a:srgbClr val="F7EAF1"/>
          </a:solidFill>
          <a:ln/>
        </p:spPr>
      </p:sp>
      <p:sp>
        <p:nvSpPr>
          <p:cNvPr id="34" name="Text 32"/>
          <p:cNvSpPr txBox="1"/>
          <p:nvPr/>
        </p:nvSpPr>
        <p:spPr>
          <a:xfrm>
            <a:off x="6217920" y="4654296"/>
            <a:ext cx="5257800" cy="1426464"/>
          </a:xfrm>
          <a:prstGeom prst="rect">
            <a:avLst/>
          </a:prstGeom>
          <a:noFill/>
          <a:ln/>
        </p:spPr>
        <p:txBody>
          <a:bodyPr wrap="square" rtlCol="0" anchor="t"/>
          <a:lstStyle/>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A reproducible pipeline across four Python notebooks — data loading and feature engineering, exploratory analysis, model training, and evaluation — where each stage saves its outputs for the next stage to read. An applied, quantitative project built entirely in Python, matching the MSc Data Science and AI course pathway.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2. Literature Review</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8 / 37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Literature Review: The Balancing Controversy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9 / 37</a:t>
            </a:r>
            <a:endParaRPr lang="en-US" sz="900" dirty="0"/>
          </a:p>
        </p:txBody>
      </p:sp>
      <p:sp>
        <p:nvSpPr>
          <p:cNvPr id="8" name="Shape 6"/>
          <p:cNvSpPr/>
          <p:nvPr/>
        </p:nvSpPr>
        <p:spPr>
          <a:xfrm>
            <a:off x="548640" y="1234440"/>
            <a:ext cx="5349240" cy="310896"/>
          </a:xfrm>
          <a:prstGeom prst="rect">
            <a:avLst/>
          </a:prstGeom>
          <a:solidFill>
            <a:srgbClr val="700040"/>
          </a:solidFill>
          <a:ln/>
        </p:spPr>
      </p:sp>
      <p:sp>
        <p:nvSpPr>
          <p:cNvPr id="9" name="Text 7"/>
          <p:cNvSpPr txBox="1"/>
          <p:nvPr/>
        </p:nvSpPr>
        <p:spPr>
          <a:xfrm>
            <a:off x="548640" y="123444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Balance the Training Data</a:t>
            </a:r>
            <a:endParaRPr lang="en-US" sz="1300" dirty="0"/>
          </a:p>
        </p:txBody>
      </p:sp>
      <p:sp>
        <p:nvSpPr>
          <p:cNvPr id="10" name="Shape 8"/>
          <p:cNvSpPr/>
          <p:nvPr/>
        </p:nvSpPr>
        <p:spPr>
          <a:xfrm>
            <a:off x="548640" y="1545336"/>
            <a:ext cx="5349240" cy="2157984"/>
          </a:xfrm>
          <a:prstGeom prst="rect">
            <a:avLst/>
          </a:prstGeom>
          <a:solidFill>
            <a:srgbClr val="F7EAF1"/>
          </a:solidFill>
          <a:ln/>
        </p:spPr>
      </p:sp>
      <p:sp>
        <p:nvSpPr>
          <p:cNvPr id="11" name="Text 9"/>
          <p:cNvSpPr txBox="1"/>
          <p:nvPr/>
        </p:nvSpPr>
        <p:spPr>
          <a:xfrm>
            <a:off x="685800" y="1636776"/>
            <a:ext cx="5074920" cy="1975104"/>
          </a:xfrm>
          <a:prstGeom prst="rect">
            <a:avLst/>
          </a:prstGeom>
          <a:noFill/>
          <a:ln/>
        </p:spPr>
        <p:txBody>
          <a:bodyPr wrap="square" rtlCol="0" anchor="t"/>
          <a:lstStyle/>
          <a:p>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Oztemel &amp; Isik (2025) — oversampling is the most-reported treatment for imbalance, 2020–2024.
</a:t>
            </a:r>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Chawla et al. (2002) — SMOTE reliably raises minority-class recall.
</a:t>
            </a:r>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Muaz et al. (2020) — RUS and SMOTE-family methods are competitive across classifiers.</a:t>
            </a:r>
            <a:endParaRPr lang="en-US" sz="1250" dirty="0"/>
          </a:p>
        </p:txBody>
      </p:sp>
      <p:sp>
        <p:nvSpPr>
          <p:cNvPr id="12" name="Shape 10"/>
          <p:cNvSpPr/>
          <p:nvPr/>
        </p:nvSpPr>
        <p:spPr>
          <a:xfrm>
            <a:off x="6080760" y="1234440"/>
            <a:ext cx="5532120" cy="310896"/>
          </a:xfrm>
          <a:prstGeom prst="rect">
            <a:avLst/>
          </a:prstGeom>
          <a:solidFill>
            <a:srgbClr val="700040"/>
          </a:solidFill>
          <a:ln/>
        </p:spPr>
      </p:sp>
      <p:sp>
        <p:nvSpPr>
          <p:cNvPr id="13" name="Text 11"/>
          <p:cNvSpPr txBox="1"/>
          <p:nvPr/>
        </p:nvSpPr>
        <p:spPr>
          <a:xfrm>
            <a:off x="6080760" y="1234440"/>
            <a:ext cx="553212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Preserve the Original Imbalance</a:t>
            </a:r>
            <a:endParaRPr lang="en-US" sz="1300" dirty="0"/>
          </a:p>
        </p:txBody>
      </p:sp>
      <p:sp>
        <p:nvSpPr>
          <p:cNvPr id="14" name="Shape 12"/>
          <p:cNvSpPr/>
          <p:nvPr/>
        </p:nvSpPr>
        <p:spPr>
          <a:xfrm>
            <a:off x="6080760" y="1545336"/>
            <a:ext cx="5532120" cy="2157984"/>
          </a:xfrm>
          <a:prstGeom prst="rect">
            <a:avLst/>
          </a:prstGeom>
          <a:solidFill>
            <a:srgbClr val="F7EAF1"/>
          </a:solidFill>
          <a:ln/>
        </p:spPr>
      </p:sp>
      <p:sp>
        <p:nvSpPr>
          <p:cNvPr id="15" name="Text 13"/>
          <p:cNvSpPr txBox="1"/>
          <p:nvPr/>
        </p:nvSpPr>
        <p:spPr>
          <a:xfrm>
            <a:off x="6217920" y="1636776"/>
            <a:ext cx="5257800" cy="1975104"/>
          </a:xfrm>
          <a:prstGeom prst="rect">
            <a:avLst/>
          </a:prstGeom>
          <a:noFill/>
          <a:ln/>
        </p:spPr>
        <p:txBody>
          <a:bodyPr wrap="square" rtlCol="0" anchor="t"/>
          <a:lstStyle/>
          <a:p>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Baisholan et al. (2025) — resampling inflates published scores relative to deployment.
</a:t>
            </a:r>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Sakho et al. (2024) — the benefit of rebalancing is largely a threshold effect, not a modelling one.
</a:t>
            </a:r>
            <a:pPr indent="0" marL="0">
              <a:lnSpc>
                <a:spcPct val="108000"/>
              </a:lnSpc>
              <a:buNone/>
            </a:pPr>
            <a:r>
              <a:rPr lang="en-US" sz="1250" dirty="0">
                <a:solidFill>
                  <a:srgbClr val="222222"/>
                </a:solidFill>
                <a:latin typeface="Calibri" pitchFamily="34" charset="0"/>
                <a:ea typeface="Calibri" pitchFamily="34" charset="-122"/>
                <a:cs typeface="Calibri" pitchFamily="34" charset="-120"/>
              </a:rPr>
              <a:t>Carvalho et al. (2025) — resampling amplifies class overlap rather than resolving it.</a:t>
            </a:r>
            <a:endParaRPr lang="en-US" sz="1250" dirty="0"/>
          </a:p>
        </p:txBody>
      </p:sp>
      <p:sp>
        <p:nvSpPr>
          <p:cNvPr id="16" name="Text 14"/>
          <p:cNvSpPr txBox="1"/>
          <p:nvPr/>
        </p:nvSpPr>
        <p:spPr>
          <a:xfrm>
            <a:off x="548640" y="3977640"/>
            <a:ext cx="11064240" cy="2011680"/>
          </a:xfrm>
          <a:prstGeom prst="rect">
            <a:avLst/>
          </a:prstGeom>
          <a:noFill/>
          <a:ln/>
        </p:spPr>
        <p:txBody>
          <a:bodyPr wrap="square" rtlCol="0" anchor="t"/>
          <a:lstStyle/>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Strengths &amp; weaknesses: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both camps rely on comparisons that change training and test data together, or draw on different datasets, which makes it hard to isolate the real effect of resampling from the effect of dataset choice.</a:t>
            </a:r>
            <a:endParaRPr lang="en-US" sz="1350" dirty="0"/>
          </a:p>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Well-rounded contrast: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this project tests both positions directly, under controlled conditions, on the same realistically imbalanced test set.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Literature Review: Metric Debate &amp; Gaps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10 / 37</a:t>
            </a:r>
            <a:endParaRPr lang="en-US" sz="900" dirty="0"/>
          </a:p>
        </p:txBody>
      </p:sp>
      <p:sp>
        <p:nvSpPr>
          <p:cNvPr id="8" name="Text 6"/>
          <p:cNvSpPr txBox="1"/>
          <p:nvPr/>
        </p:nvSpPr>
        <p:spPr>
          <a:xfrm>
            <a:off x="548640" y="1234440"/>
            <a:ext cx="11064240" cy="1188720"/>
          </a:xfrm>
          <a:prstGeom prst="rect">
            <a:avLst/>
          </a:prstGeom>
          <a:noFill/>
          <a:ln/>
        </p:spPr>
        <p:txBody>
          <a:bodyPr wrap="square" rtlCol="0" anchor="t"/>
          <a:lstStyle/>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PR-AUC vs. ROC-AUC: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convention favours PR-AUC under severe imbalance (Davis &amp; Goadrich, 2006; Saito &amp; Rehmsmeier, 2015). Richardson et al. (2024) argue the opposite — ROC-AUC is stable as class prevalence changes, while PR-AUC confuses prevalence with classifier quality. Both metrics are reported here, and neither is allowed to stand alone.</a:t>
            </a:r>
            <a:endParaRPr lang="en-US" sz="1350" dirty="0"/>
          </a:p>
        </p:txBody>
      </p:sp>
      <p:sp>
        <p:nvSpPr>
          <p:cNvPr id="9" name="Shape 7"/>
          <p:cNvSpPr/>
          <p:nvPr/>
        </p:nvSpPr>
        <p:spPr>
          <a:xfrm>
            <a:off x="548640" y="2514600"/>
            <a:ext cx="11064240" cy="310896"/>
          </a:xfrm>
          <a:prstGeom prst="rect">
            <a:avLst/>
          </a:prstGeom>
          <a:solidFill>
            <a:srgbClr val="700040"/>
          </a:solidFill>
          <a:ln/>
        </p:spPr>
      </p:sp>
      <p:sp>
        <p:nvSpPr>
          <p:cNvPr id="10" name="Text 8"/>
          <p:cNvSpPr txBox="1"/>
          <p:nvPr/>
        </p:nvSpPr>
        <p:spPr>
          <a:xfrm>
            <a:off x="548640" y="251460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Six Gaps This Project Addresses</a:t>
            </a:r>
            <a:endParaRPr lang="en-US" sz="1300" dirty="0"/>
          </a:p>
        </p:txBody>
      </p:sp>
      <p:sp>
        <p:nvSpPr>
          <p:cNvPr id="11" name="Shape 9"/>
          <p:cNvSpPr/>
          <p:nvPr/>
        </p:nvSpPr>
        <p:spPr>
          <a:xfrm>
            <a:off x="548640" y="2926080"/>
            <a:ext cx="310896" cy="310896"/>
          </a:xfrm>
          <a:prstGeom prst="ellipse">
            <a:avLst/>
          </a:prstGeom>
          <a:solidFill>
            <a:srgbClr val="E2231A"/>
          </a:solidFill>
          <a:ln/>
        </p:spPr>
      </p:sp>
      <p:sp>
        <p:nvSpPr>
          <p:cNvPr id="12" name="Text 10"/>
          <p:cNvSpPr txBox="1"/>
          <p:nvPr/>
        </p:nvSpPr>
        <p:spPr>
          <a:xfrm>
            <a:off x="548640" y="292608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960120" y="285292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Evaluation sets are often balanced along with training, contaminating the test.</a:t>
            </a:r>
            <a:endParaRPr lang="en-US" sz="1200" dirty="0"/>
          </a:p>
        </p:txBody>
      </p:sp>
      <p:sp>
        <p:nvSpPr>
          <p:cNvPr id="14" name="Shape 12"/>
          <p:cNvSpPr/>
          <p:nvPr/>
        </p:nvSpPr>
        <p:spPr>
          <a:xfrm>
            <a:off x="6172200" y="2926080"/>
            <a:ext cx="310896" cy="310896"/>
          </a:xfrm>
          <a:prstGeom prst="ellipse">
            <a:avLst/>
          </a:prstGeom>
          <a:solidFill>
            <a:srgbClr val="E2231A"/>
          </a:solidFill>
          <a:ln/>
        </p:spPr>
      </p:sp>
      <p:sp>
        <p:nvSpPr>
          <p:cNvPr id="15" name="Text 13"/>
          <p:cNvSpPr txBox="1"/>
          <p:nvPr/>
        </p:nvSpPr>
        <p:spPr>
          <a:xfrm>
            <a:off x="6172200" y="292608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6583680" y="285292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Class-prior mismatch is routinely misdiagnosed as overfitting.</a:t>
            </a:r>
            <a:endParaRPr lang="en-US" sz="1200" dirty="0"/>
          </a:p>
        </p:txBody>
      </p:sp>
      <p:sp>
        <p:nvSpPr>
          <p:cNvPr id="17" name="Shape 15"/>
          <p:cNvSpPr/>
          <p:nvPr/>
        </p:nvSpPr>
        <p:spPr>
          <a:xfrm>
            <a:off x="548640" y="3977640"/>
            <a:ext cx="310896" cy="310896"/>
          </a:xfrm>
          <a:prstGeom prst="ellipse">
            <a:avLst/>
          </a:prstGeom>
          <a:solidFill>
            <a:srgbClr val="E2231A"/>
          </a:solidFill>
          <a:ln/>
        </p:spPr>
      </p:sp>
      <p:sp>
        <p:nvSpPr>
          <p:cNvPr id="18" name="Text 16"/>
          <p:cNvSpPr txBox="1"/>
          <p:nvPr/>
        </p:nvSpPr>
        <p:spPr>
          <a:xfrm>
            <a:off x="548640" y="397764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960120" y="390448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Statistical metrics are rarely translated into operational review workload.</a:t>
            </a:r>
            <a:endParaRPr lang="en-US" sz="1200" dirty="0"/>
          </a:p>
        </p:txBody>
      </p:sp>
      <p:sp>
        <p:nvSpPr>
          <p:cNvPr id="20" name="Shape 18"/>
          <p:cNvSpPr/>
          <p:nvPr/>
        </p:nvSpPr>
        <p:spPr>
          <a:xfrm>
            <a:off x="6172200" y="3977640"/>
            <a:ext cx="310896" cy="310896"/>
          </a:xfrm>
          <a:prstGeom prst="ellipse">
            <a:avLst/>
          </a:prstGeom>
          <a:solidFill>
            <a:srgbClr val="E2231A"/>
          </a:solidFill>
          <a:ln/>
        </p:spPr>
      </p:sp>
      <p:sp>
        <p:nvSpPr>
          <p:cNvPr id="21" name="Text 19"/>
          <p:cNvSpPr txBox="1"/>
          <p:nvPr/>
        </p:nvSpPr>
        <p:spPr>
          <a:xfrm>
            <a:off x="6172200" y="397764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583680" y="390448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Supervised and unsupervised approaches are compared across incompatible studies.</a:t>
            </a:r>
            <a:endParaRPr lang="en-US" sz="1200" dirty="0"/>
          </a:p>
        </p:txBody>
      </p:sp>
      <p:sp>
        <p:nvSpPr>
          <p:cNvPr id="23" name="Shape 21"/>
          <p:cNvSpPr/>
          <p:nvPr/>
        </p:nvSpPr>
        <p:spPr>
          <a:xfrm>
            <a:off x="548640" y="5029200"/>
            <a:ext cx="310896" cy="310896"/>
          </a:xfrm>
          <a:prstGeom prst="ellipse">
            <a:avLst/>
          </a:prstGeom>
          <a:solidFill>
            <a:srgbClr val="E2231A"/>
          </a:solidFill>
          <a:ln/>
        </p:spPr>
      </p:sp>
      <p:sp>
        <p:nvSpPr>
          <p:cNvPr id="24" name="Text 22"/>
          <p:cNvSpPr txBox="1"/>
          <p:nvPr/>
        </p:nvSpPr>
        <p:spPr>
          <a:xfrm>
            <a:off x="548640" y="502920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960120" y="495604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Simple baselines are under-reported relative to complex methods.</a:t>
            </a:r>
            <a:endParaRPr lang="en-US" sz="1200" dirty="0"/>
          </a:p>
        </p:txBody>
      </p:sp>
      <p:sp>
        <p:nvSpPr>
          <p:cNvPr id="26" name="Shape 24"/>
          <p:cNvSpPr/>
          <p:nvPr/>
        </p:nvSpPr>
        <p:spPr>
          <a:xfrm>
            <a:off x="6172200" y="5029200"/>
            <a:ext cx="310896" cy="310896"/>
          </a:xfrm>
          <a:prstGeom prst="ellipse">
            <a:avLst/>
          </a:prstGeom>
          <a:solidFill>
            <a:srgbClr val="E2231A"/>
          </a:solidFill>
          <a:ln/>
        </p:spPr>
      </p:sp>
      <p:sp>
        <p:nvSpPr>
          <p:cNvPr id="27" name="Text 25"/>
          <p:cNvSpPr txBox="1"/>
          <p:nvPr/>
        </p:nvSpPr>
        <p:spPr>
          <a:xfrm>
            <a:off x="6172200" y="502920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6583680" y="4956048"/>
            <a:ext cx="5029200" cy="82296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Feature engineering choices are under-documented and leakage is under-checked.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3. Research Methodology</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11 / 37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Research Methodology: The Research Onion Integration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12 / 37</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463040"/>
                <a:gridCol w="3017520"/>
                <a:gridCol w="658368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Choice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Justification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r>
              <a:tr h="38404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Philosophy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Positivist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with a pragmatist strand in design choices — the question is measurable and testable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Deductive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tests two propositions drawn directly from the literature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Methodology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Quantitative &amp; experimental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every construct is a numeric measurement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Strategy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Controlled computational experiment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cross-sectional, archival dataset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Time horizon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Single forward-looking split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official temporal train/test partition, not a random shuffle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3703320"/>
            <a:ext cx="11064240" cy="310896"/>
          </a:xfrm>
          <a:prstGeom prst="rect">
            <a:avLst/>
          </a:prstGeom>
          <a:solidFill>
            <a:srgbClr val="700040"/>
          </a:solidFill>
          <a:ln/>
        </p:spPr>
      </p:sp>
      <p:sp>
        <p:nvSpPr>
          <p:cNvPr id="10" name="Text 7"/>
          <p:cNvSpPr txBox="1"/>
          <p:nvPr/>
        </p:nvSpPr>
        <p:spPr>
          <a:xfrm>
            <a:off x="548640" y="370332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Alternatives Considered and Rejected</a:t>
            </a:r>
            <a:endParaRPr lang="en-US" sz="1300" dirty="0"/>
          </a:p>
        </p:txBody>
      </p:sp>
      <p:sp>
        <p:nvSpPr>
          <p:cNvPr id="11" name="Text 8"/>
          <p:cNvSpPr txBox="1"/>
          <p:nvPr/>
        </p:nvSpPr>
        <p:spPr>
          <a:xfrm>
            <a:off x="548640" y="4069080"/>
            <a:ext cx="11064240" cy="1280160"/>
          </a:xfrm>
          <a:prstGeom prst="rect">
            <a:avLst/>
          </a:prstGeom>
          <a:noFill/>
          <a:ln/>
        </p:spPr>
        <p:txBody>
          <a:bodyPr wrap="square" rtlCol="0" anchor="t"/>
          <a:lstStyle/>
          <a:p>
            <a:pPr marL="342900" indent="-342900">
              <a:lnSpc>
                <a:spcPct val="105000"/>
              </a:lnSpc>
              <a:spcAft>
                <a:spcPts val="600"/>
              </a:spcAft>
              <a:buSzPct val="100000"/>
              <a:buChar char="•"/>
            </a:pPr>
            <a:r>
              <a:rPr lang="en-US" sz="1250" b="1" dirty="0">
                <a:solidFill>
                  <a:srgbClr val="700040"/>
                </a:solidFill>
                <a:latin typeface="Calibri" pitchFamily="34" charset="0"/>
                <a:ea typeface="Calibri" pitchFamily="34" charset="-122"/>
                <a:cs typeface="Calibri" pitchFamily="34" charset="-120"/>
              </a:rPr>
              <a:t>Qualitative interviews: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would add context but cannot answer a measurable-behaviour question.</a:t>
            </a:r>
            <a:endParaRPr lang="en-US" sz="1250" dirty="0"/>
          </a:p>
          <a:p>
            <a:pPr marL="342900" indent="-342900">
              <a:lnSpc>
                <a:spcPct val="105000"/>
              </a:lnSpc>
              <a:spcAft>
                <a:spcPts val="600"/>
              </a:spcAft>
              <a:buSzPct val="100000"/>
              <a:buChar char="•"/>
            </a:pPr>
            <a:r>
              <a:rPr lang="en-US" sz="1250" b="1" dirty="0">
                <a:solidFill>
                  <a:srgbClr val="700040"/>
                </a:solidFill>
                <a:latin typeface="Calibri" pitchFamily="34" charset="0"/>
                <a:ea typeface="Calibri" pitchFamily="34" charset="-122"/>
                <a:cs typeface="Calibri" pitchFamily="34" charset="-120"/>
              </a:rPr>
              <a:t>Practitioner survey: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establishes belief, not correctness.</a:t>
            </a:r>
            <a:endParaRPr lang="en-US" sz="1250" dirty="0"/>
          </a:p>
          <a:p>
            <a:pPr marL="342900" indent="-342900">
              <a:lnSpc>
                <a:spcPct val="105000"/>
              </a:lnSpc>
              <a:spcAft>
                <a:spcPts val="600"/>
              </a:spcAft>
              <a:buSzPct val="100000"/>
              <a:buChar char="•"/>
            </a:pPr>
            <a:r>
              <a:rPr lang="en-US" sz="1250" b="1" dirty="0">
                <a:solidFill>
                  <a:srgbClr val="700040"/>
                </a:solidFill>
                <a:latin typeface="Calibri" pitchFamily="34" charset="0"/>
                <a:ea typeface="Calibri" pitchFamily="34" charset="-122"/>
                <a:cs typeface="Calibri" pitchFamily="34" charset="-120"/>
              </a:rPr>
              <a:t>Mixed methods: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excluded on time and ethics grounds — would require human participants and a higher ethics category.</a:t>
            </a:r>
            <a:endParaRPr lang="en-US" sz="1250" dirty="0"/>
          </a:p>
        </p:txBody>
      </p:sp>
      <p:sp>
        <p:nvSpPr>
          <p:cNvPr id="12" name="Text 9"/>
          <p:cNvSpPr txBox="1"/>
          <p:nvPr/>
        </p:nvSpPr>
        <p:spPr>
          <a:xfrm>
            <a:off x="548640" y="5623560"/>
            <a:ext cx="11064240" cy="731520"/>
          </a:xfrm>
          <a:prstGeom prst="rect">
            <a:avLst/>
          </a:prstGeom>
          <a:noFill/>
          <a:ln/>
        </p:spPr>
        <p:txBody>
          <a:bodyPr wrap="square" rtlCol="0" anchor="t"/>
          <a:lstStyle/>
          <a:p>
            <a:pPr indent="0" marL="0">
              <a:lnSpc>
                <a:spcPct val="110000"/>
              </a:lnSpc>
              <a:buNone/>
            </a:pPr>
            <a:r>
              <a:rPr lang="en-US" sz="1250" b="1" dirty="0">
                <a:solidFill>
                  <a:srgbClr val="700040"/>
                </a:solidFill>
                <a:latin typeface="Calibri" pitchFamily="34" charset="0"/>
                <a:ea typeface="Calibri" pitchFamily="34" charset="-122"/>
                <a:cs typeface="Calibri" pitchFamily="34" charset="-120"/>
              </a:rPr>
              <a:t>Project alignment: </a:t>
            </a:r>
            <a:pPr indent="0" marL="0">
              <a:lnSpc>
                <a:spcPct val="110000"/>
              </a:lnSpc>
              <a:buNone/>
            </a:pPr>
            <a:r>
              <a:rPr lang="en-US" sz="1250" dirty="0">
                <a:solidFill>
                  <a:srgbClr val="222222"/>
                </a:solidFill>
                <a:latin typeface="Calibri" pitchFamily="34" charset="0"/>
                <a:ea typeface="Calibri" pitchFamily="34" charset="-122"/>
                <a:cs typeface="Calibri" pitchFamily="34" charset="-120"/>
              </a:rPr>
              <a:t>each layer traces directly back to the two research questions — a deductive, quantitative, controlled design is the only one that isolates the effect of the training class ratio.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4. Ethics</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13 / 37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Ethics: Governance &amp; Data Collection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14 / 37</a:t>
            </a:r>
            <a:endParaRPr lang="en-US" sz="900" dirty="0"/>
          </a:p>
        </p:txBody>
      </p:sp>
      <p:sp>
        <p:nvSpPr>
          <p:cNvPr id="8" name="Text 6"/>
          <p:cNvSpPr txBox="1"/>
          <p:nvPr/>
        </p:nvSpPr>
        <p:spPr>
          <a:xfrm>
            <a:off x="548640" y="1280160"/>
            <a:ext cx="11064240" cy="2834640"/>
          </a:xfrm>
          <a:prstGeom prst="rect">
            <a:avLst/>
          </a:prstGeom>
          <a:noFill/>
          <a:ln/>
        </p:spPr>
        <p:txBody>
          <a:bodyPr wrap="square" rtlCol="0" anchor="t"/>
          <a:lstStyle/>
          <a:p>
            <a:pPr marL="342900" indent="-342900">
              <a:lnSpc>
                <a:spcPct val="105000"/>
              </a:lnSpc>
              <a:spcAft>
                <a:spcPts val="1200"/>
              </a:spcAft>
              <a:buSzPct val="100000"/>
              <a:buChar char="•"/>
            </a:pPr>
            <a:r>
              <a:rPr lang="en-US" sz="1400" b="1" dirty="0">
                <a:solidFill>
                  <a:srgbClr val="700040"/>
                </a:solidFill>
                <a:latin typeface="Calibri" pitchFamily="34" charset="0"/>
                <a:ea typeface="Calibri" pitchFamily="34" charset="-122"/>
                <a:cs typeface="Calibri" pitchFamily="34" charset="-120"/>
              </a:rPr>
              <a:t>Data collection strategy: </a:t>
            </a:r>
            <a:pPr indent="0" marL="0">
              <a:lnSpc>
                <a:spcPct val="105000"/>
              </a:lnSpc>
              <a:buNone/>
            </a:pPr>
            <a:r>
              <a:rPr lang="en-US" sz="1400" dirty="0">
                <a:solidFill>
                  <a:srgbClr val="222222"/>
                </a:solidFill>
                <a:latin typeface="Calibri" pitchFamily="34" charset="0"/>
                <a:ea typeface="Calibri" pitchFamily="34" charset="-122"/>
                <a:cs typeface="Calibri" pitchFamily="34" charset="-120"/>
              </a:rPr>
              <a:t> no primary data was collected from people. The dataset is the Credit Card Transactions Fraud Detection Dataset (Kartik2112, 2020, Kaggle), generated by the Sparkov simulator across 1,000 simulated cardholders and 800 simulated merchants.</a:t>
            </a:r>
            <a:endParaRPr lang="en-US" sz="1400" dirty="0"/>
          </a:p>
          <a:p>
            <a:pPr marL="342900" indent="-342900">
              <a:lnSpc>
                <a:spcPct val="105000"/>
              </a:lnSpc>
              <a:spcAft>
                <a:spcPts val="1200"/>
              </a:spcAft>
              <a:buSzPct val="100000"/>
              <a:buChar char="•"/>
            </a:pPr>
            <a:r>
              <a:rPr lang="en-US" sz="1400" b="1" dirty="0">
                <a:solidFill>
                  <a:srgbClr val="700040"/>
                </a:solidFill>
                <a:latin typeface="Calibri" pitchFamily="34" charset="0"/>
                <a:ea typeface="Calibri" pitchFamily="34" charset="-122"/>
                <a:cs typeface="Calibri" pitchFamily="34" charset="-120"/>
              </a:rPr>
              <a:t>Data source &amp; storage: </a:t>
            </a:r>
            <a:pPr indent="0" marL="0">
              <a:lnSpc>
                <a:spcPct val="105000"/>
              </a:lnSpc>
              <a:buNone/>
            </a:pPr>
            <a:r>
              <a:rPr lang="en-US" sz="1400" dirty="0">
                <a:solidFill>
                  <a:srgbClr val="222222"/>
                </a:solidFill>
                <a:latin typeface="Calibri" pitchFamily="34" charset="0"/>
                <a:ea typeface="Calibri" pitchFamily="34" charset="-122"/>
                <a:cs typeface="Calibri" pitchFamily="34" charset="-120"/>
              </a:rPr>
              <a:t> downloaded from Kaggle under its public licence, stored locally for the duration of the project, and deleted at the end of assessment.</a:t>
            </a:r>
            <a:endParaRPr lang="en-US" sz="1400" dirty="0"/>
          </a:p>
          <a:p>
            <a:pPr marL="342900" indent="-342900">
              <a:lnSpc>
                <a:spcPct val="105000"/>
              </a:lnSpc>
              <a:spcAft>
                <a:spcPts val="1200"/>
              </a:spcAft>
              <a:buSzPct val="100000"/>
              <a:buChar char="•"/>
            </a:pPr>
            <a:r>
              <a:rPr lang="en-US" sz="1400" b="1" dirty="0">
                <a:solidFill>
                  <a:srgbClr val="700040"/>
                </a:solidFill>
                <a:latin typeface="Calibri" pitchFamily="34" charset="0"/>
                <a:ea typeface="Calibri" pitchFamily="34" charset="-122"/>
                <a:cs typeface="Calibri" pitchFamily="34" charset="-120"/>
              </a:rPr>
              <a:t>Data analysis: </a:t>
            </a:r>
            <a:pPr indent="0" marL="0">
              <a:lnSpc>
                <a:spcPct val="105000"/>
              </a:lnSpc>
              <a:buNone/>
            </a:pPr>
            <a:r>
              <a:rPr lang="en-US" sz="1400" dirty="0">
                <a:solidFill>
                  <a:srgbClr val="222222"/>
                </a:solidFill>
                <a:latin typeface="Calibri" pitchFamily="34" charset="0"/>
                <a:ea typeface="Calibri" pitchFamily="34" charset="-122"/>
                <a:cs typeface="Calibri" pitchFamily="34" charset="-120"/>
              </a:rPr>
              <a:t> quantitative — supervised and unsupervised models scored with a six-metric suite (accuracy, precision, recall, F1, ROC-AUC, PR-AUC), compared across training regimes.</a:t>
            </a:r>
            <a:endParaRPr lang="en-US" sz="1400" dirty="0"/>
          </a:p>
        </p:txBody>
      </p:sp>
      <p:sp>
        <p:nvSpPr>
          <p:cNvPr id="9" name="Shape 7"/>
          <p:cNvSpPr/>
          <p:nvPr/>
        </p:nvSpPr>
        <p:spPr>
          <a:xfrm>
            <a:off x="548640" y="4343400"/>
            <a:ext cx="11064240" cy="310896"/>
          </a:xfrm>
          <a:prstGeom prst="rect">
            <a:avLst/>
          </a:prstGeom>
          <a:solidFill>
            <a:srgbClr val="700040"/>
          </a:solidFill>
          <a:ln/>
        </p:spPr>
      </p:sp>
      <p:sp>
        <p:nvSpPr>
          <p:cNvPr id="10" name="Text 8"/>
          <p:cNvSpPr txBox="1"/>
          <p:nvPr/>
        </p:nvSpPr>
        <p:spPr>
          <a:xfrm>
            <a:off x="548640" y="434340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Ethics Approval Registration</a:t>
            </a:r>
            <a:endParaRPr lang="en-US" sz="1300" dirty="0"/>
          </a:p>
        </p:txBody>
      </p:sp>
      <p:sp>
        <p:nvSpPr>
          <p:cNvPr id="11" name="Shape 9"/>
          <p:cNvSpPr/>
          <p:nvPr/>
        </p:nvSpPr>
        <p:spPr>
          <a:xfrm>
            <a:off x="548640" y="4654296"/>
            <a:ext cx="11064240" cy="1060704"/>
          </a:xfrm>
          <a:prstGeom prst="rect">
            <a:avLst/>
          </a:prstGeom>
          <a:solidFill>
            <a:srgbClr val="F7EAF1"/>
          </a:solidFill>
          <a:ln/>
        </p:spPr>
      </p:sp>
      <p:sp>
        <p:nvSpPr>
          <p:cNvPr id="12" name="Text 10"/>
          <p:cNvSpPr txBox="1"/>
          <p:nvPr/>
        </p:nvSpPr>
        <p:spPr>
          <a:xfrm>
            <a:off x="685800" y="4745736"/>
            <a:ext cx="10789920" cy="877824"/>
          </a:xfrm>
          <a:prstGeom prst="rect">
            <a:avLst/>
          </a:prstGeom>
          <a:noFill/>
          <a:ln/>
        </p:spPr>
        <p:txBody>
          <a:bodyPr wrap="square" rtlCol="0" anchor="t"/>
          <a:lstStyle/>
          <a:p>
            <a:pPr indent="0" marL="0">
              <a:lnSpc>
                <a:spcPct val="108000"/>
              </a:lnSpc>
              <a:buNone/>
            </a:pPr>
            <a:r>
              <a:rPr lang="en-US" sz="1300" dirty="0">
                <a:solidFill>
                  <a:srgbClr val="222222"/>
                </a:solidFill>
                <a:latin typeface="Calibri" pitchFamily="34" charset="0"/>
                <a:ea typeface="Calibri" pitchFamily="34" charset="-122"/>
                <a:cs typeface="Calibri" pitchFamily="34" charset="-120"/>
              </a:rPr>
              <a:t>Approved via Blackboard under category UREC1 (no human participants) prior to any data processing. The dataset contains no personal data under the UK GDPR at any stage.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Ethics: Risk Management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15 / 37</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06240"/>
                <a:gridCol w="6858000"/>
              </a:tblGrid>
              <a:tr h="65836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Data leakage between train/test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Scaler fitted on training data only; transaction-ID overlap verified numerically as zero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Balanced-model failure misread as overfitting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Every model scored on train and test; the train-minus-test gap is reported explicitly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Unsupervised detectors infeasible at full scale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One-Class SVM / LOF fitted on a documented 40,000-record subsample; reported as a limitation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Misreading imbalanced-data metrics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Six metrics reported together rather than accuracy alone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Synthetic-data validity limits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Findings reported as an upper bound, not a deployment guarantee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Reproducibility drift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A single fixed random seed (42) used across every stochastic step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5. Implementation</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16 / 37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Pipeline Architecture &amp; Lifecycle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17 / 37</a:t>
            </a:r>
            <a:endParaRPr lang="en-US" sz="900" dirty="0"/>
          </a:p>
        </p:txBody>
      </p:sp>
      <p:sp>
        <p:nvSpPr>
          <p:cNvPr id="8" name="Shape 6"/>
          <p:cNvSpPr/>
          <p:nvPr/>
        </p:nvSpPr>
        <p:spPr>
          <a:xfrm>
            <a:off x="548640" y="1188720"/>
            <a:ext cx="329184" cy="329184"/>
          </a:xfrm>
          <a:prstGeom prst="ellipse">
            <a:avLst/>
          </a:prstGeom>
          <a:solidFill>
            <a:srgbClr val="9E0059"/>
          </a:solidFill>
          <a:ln/>
        </p:spPr>
      </p:sp>
      <p:sp>
        <p:nvSpPr>
          <p:cNvPr id="9" name="Text 7"/>
          <p:cNvSpPr txBox="1"/>
          <p:nvPr/>
        </p:nvSpPr>
        <p:spPr>
          <a:xfrm>
            <a:off x="548640" y="11887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05840" y="11612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Data Acquisition</a:t>
            </a:r>
            <a:endParaRPr lang="en-US" sz="1250" dirty="0"/>
          </a:p>
        </p:txBody>
      </p:sp>
      <p:sp>
        <p:nvSpPr>
          <p:cNvPr id="11" name="Text 9"/>
          <p:cNvSpPr txBox="1"/>
          <p:nvPr/>
        </p:nvSpPr>
        <p:spPr>
          <a:xfrm>
            <a:off x="3931920" y="11612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Load official train/test files, preserving temporal order</a:t>
            </a:r>
            <a:endParaRPr lang="en-US" sz="1150" dirty="0"/>
          </a:p>
        </p:txBody>
      </p:sp>
      <p:sp>
        <p:nvSpPr>
          <p:cNvPr id="12" name="Shape 10"/>
          <p:cNvSpPr/>
          <p:nvPr/>
        </p:nvSpPr>
        <p:spPr>
          <a:xfrm>
            <a:off x="548640" y="1645920"/>
            <a:ext cx="329184" cy="329184"/>
          </a:xfrm>
          <a:prstGeom prst="ellipse">
            <a:avLst/>
          </a:prstGeom>
          <a:solidFill>
            <a:srgbClr val="9E0059"/>
          </a:solidFill>
          <a:ln/>
        </p:spPr>
      </p:sp>
      <p:sp>
        <p:nvSpPr>
          <p:cNvPr id="13" name="Text 11"/>
          <p:cNvSpPr txBox="1"/>
          <p:nvPr/>
        </p:nvSpPr>
        <p:spPr>
          <a:xfrm>
            <a:off x="548640" y="16459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005840" y="16184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Exploratory Analysis</a:t>
            </a:r>
            <a:endParaRPr lang="en-US" sz="1250" dirty="0"/>
          </a:p>
        </p:txBody>
      </p:sp>
      <p:sp>
        <p:nvSpPr>
          <p:cNvPr id="15" name="Text 13"/>
          <p:cNvSpPr txBox="1"/>
          <p:nvPr/>
        </p:nvSpPr>
        <p:spPr>
          <a:xfrm>
            <a:off x="3931920" y="16184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Quantify prevalence; profile amount, time &amp; category</a:t>
            </a:r>
            <a:endParaRPr lang="en-US" sz="1150" dirty="0"/>
          </a:p>
        </p:txBody>
      </p:sp>
      <p:sp>
        <p:nvSpPr>
          <p:cNvPr id="16" name="Shape 14"/>
          <p:cNvSpPr/>
          <p:nvPr/>
        </p:nvSpPr>
        <p:spPr>
          <a:xfrm>
            <a:off x="548640" y="2103120"/>
            <a:ext cx="329184" cy="329184"/>
          </a:xfrm>
          <a:prstGeom prst="ellipse">
            <a:avLst/>
          </a:prstGeom>
          <a:solidFill>
            <a:srgbClr val="9E0059"/>
          </a:solidFill>
          <a:ln/>
        </p:spPr>
      </p:sp>
      <p:sp>
        <p:nvSpPr>
          <p:cNvPr id="17" name="Text 15"/>
          <p:cNvSpPr txBox="1"/>
          <p:nvPr/>
        </p:nvSpPr>
        <p:spPr>
          <a:xfrm>
            <a:off x="548640" y="21031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05840" y="20756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Feature Engineering</a:t>
            </a:r>
            <a:endParaRPr lang="en-US" sz="1250" dirty="0"/>
          </a:p>
        </p:txBody>
      </p:sp>
      <p:sp>
        <p:nvSpPr>
          <p:cNvPr id="19" name="Text 17"/>
          <p:cNvSpPr txBox="1"/>
          <p:nvPr/>
        </p:nvSpPr>
        <p:spPr>
          <a:xfrm>
            <a:off x="3931920" y="20756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Derive 6 features; one-hot category; drop identifiers</a:t>
            </a:r>
            <a:endParaRPr lang="en-US" sz="1150" dirty="0"/>
          </a:p>
        </p:txBody>
      </p:sp>
      <p:sp>
        <p:nvSpPr>
          <p:cNvPr id="20" name="Shape 18"/>
          <p:cNvSpPr/>
          <p:nvPr/>
        </p:nvSpPr>
        <p:spPr>
          <a:xfrm>
            <a:off x="548640" y="2560320"/>
            <a:ext cx="329184" cy="329184"/>
          </a:xfrm>
          <a:prstGeom prst="ellipse">
            <a:avLst/>
          </a:prstGeom>
          <a:solidFill>
            <a:srgbClr val="9E0059"/>
          </a:solidFill>
          <a:ln/>
        </p:spPr>
      </p:sp>
      <p:sp>
        <p:nvSpPr>
          <p:cNvPr id="21" name="Text 19"/>
          <p:cNvSpPr txBox="1"/>
          <p:nvPr/>
        </p:nvSpPr>
        <p:spPr>
          <a:xfrm>
            <a:off x="548640" y="25603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05840" y="25328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Matrix Preparation</a:t>
            </a:r>
            <a:endParaRPr lang="en-US" sz="1250" dirty="0"/>
          </a:p>
        </p:txBody>
      </p:sp>
      <p:sp>
        <p:nvSpPr>
          <p:cNvPr id="23" name="Text 21"/>
          <p:cNvSpPr txBox="1"/>
          <p:nvPr/>
        </p:nvSpPr>
        <p:spPr>
          <a:xfrm>
            <a:off x="3931920" y="25328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Fit scaler on train only; align columns</a:t>
            </a:r>
            <a:endParaRPr lang="en-US" sz="1150" dirty="0"/>
          </a:p>
        </p:txBody>
      </p:sp>
      <p:sp>
        <p:nvSpPr>
          <p:cNvPr id="24" name="Shape 22"/>
          <p:cNvSpPr/>
          <p:nvPr/>
        </p:nvSpPr>
        <p:spPr>
          <a:xfrm>
            <a:off x="548640" y="3017520"/>
            <a:ext cx="329184" cy="329184"/>
          </a:xfrm>
          <a:prstGeom prst="ellipse">
            <a:avLst/>
          </a:prstGeom>
          <a:solidFill>
            <a:srgbClr val="9E0059"/>
          </a:solidFill>
          <a:ln/>
        </p:spPr>
      </p:sp>
      <p:sp>
        <p:nvSpPr>
          <p:cNvPr id="25" name="Text 23"/>
          <p:cNvSpPr txBox="1"/>
          <p:nvPr/>
        </p:nvSpPr>
        <p:spPr>
          <a:xfrm>
            <a:off x="548640" y="30175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005840" y="29900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Balanced Subset</a:t>
            </a:r>
            <a:endParaRPr lang="en-US" sz="1250" dirty="0"/>
          </a:p>
        </p:txBody>
      </p:sp>
      <p:sp>
        <p:nvSpPr>
          <p:cNvPr id="27" name="Text 25"/>
          <p:cNvSpPr txBox="1"/>
          <p:nvPr/>
        </p:nvSpPr>
        <p:spPr>
          <a:xfrm>
            <a:off x="3931920" y="29900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Random Under-Sampling 1:1</a:t>
            </a:r>
            <a:endParaRPr lang="en-US" sz="1150" dirty="0"/>
          </a:p>
        </p:txBody>
      </p:sp>
      <p:sp>
        <p:nvSpPr>
          <p:cNvPr id="28" name="Shape 26"/>
          <p:cNvSpPr/>
          <p:nvPr/>
        </p:nvSpPr>
        <p:spPr>
          <a:xfrm>
            <a:off x="548640" y="3474720"/>
            <a:ext cx="329184" cy="329184"/>
          </a:xfrm>
          <a:prstGeom prst="ellipse">
            <a:avLst/>
          </a:prstGeom>
          <a:solidFill>
            <a:srgbClr val="9E0059"/>
          </a:solidFill>
          <a:ln/>
        </p:spPr>
      </p:sp>
      <p:sp>
        <p:nvSpPr>
          <p:cNvPr id="29" name="Text 27"/>
          <p:cNvSpPr txBox="1"/>
          <p:nvPr/>
        </p:nvSpPr>
        <p:spPr>
          <a:xfrm>
            <a:off x="548640" y="34747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0" name="Text 28"/>
          <p:cNvSpPr txBox="1"/>
          <p:nvPr/>
        </p:nvSpPr>
        <p:spPr>
          <a:xfrm>
            <a:off x="1005840" y="34472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Model Fitting</a:t>
            </a:r>
            <a:endParaRPr lang="en-US" sz="1250" dirty="0"/>
          </a:p>
        </p:txBody>
      </p:sp>
      <p:sp>
        <p:nvSpPr>
          <p:cNvPr id="31" name="Text 29"/>
          <p:cNvSpPr txBox="1"/>
          <p:nvPr/>
        </p:nvSpPr>
        <p:spPr>
          <a:xfrm>
            <a:off x="3931920" y="34472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5 models, 2 regimes, fixed seed = 42</a:t>
            </a:r>
            <a:endParaRPr lang="en-US" sz="1150" dirty="0"/>
          </a:p>
        </p:txBody>
      </p:sp>
      <p:sp>
        <p:nvSpPr>
          <p:cNvPr id="32" name="Shape 30"/>
          <p:cNvSpPr/>
          <p:nvPr/>
        </p:nvSpPr>
        <p:spPr>
          <a:xfrm>
            <a:off x="548640" y="3931920"/>
            <a:ext cx="329184" cy="329184"/>
          </a:xfrm>
          <a:prstGeom prst="ellipse">
            <a:avLst/>
          </a:prstGeom>
          <a:solidFill>
            <a:srgbClr val="9E0059"/>
          </a:solidFill>
          <a:ln/>
        </p:spPr>
      </p:sp>
      <p:sp>
        <p:nvSpPr>
          <p:cNvPr id="33" name="Text 31"/>
          <p:cNvSpPr txBox="1"/>
          <p:nvPr/>
        </p:nvSpPr>
        <p:spPr>
          <a:xfrm>
            <a:off x="548640" y="3931920"/>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4" name="Text 32"/>
          <p:cNvSpPr txBox="1"/>
          <p:nvPr/>
        </p:nvSpPr>
        <p:spPr>
          <a:xfrm>
            <a:off x="1005840" y="3904488"/>
            <a:ext cx="2834640" cy="384048"/>
          </a:xfrm>
          <a:prstGeom prst="rect">
            <a:avLst/>
          </a:prstGeom>
          <a:noFill/>
          <a:ln/>
        </p:spPr>
        <p:txBody>
          <a:bodyPr wrap="square" rtlCol="0" anchor="ctr"/>
          <a:lstStyle/>
          <a:p>
            <a:pPr indent="0" marL="0">
              <a:buNone/>
            </a:pPr>
            <a:r>
              <a:rPr lang="en-US" sz="1250" b="1" dirty="0">
                <a:solidFill>
                  <a:srgbClr val="700040"/>
                </a:solidFill>
                <a:latin typeface="Calibri" pitchFamily="34" charset="0"/>
                <a:ea typeface="Calibri" pitchFamily="34" charset="-122"/>
                <a:cs typeface="Calibri" pitchFamily="34" charset="-120"/>
              </a:rPr>
              <a:t>Evaluation &amp; Analysis</a:t>
            </a:r>
            <a:endParaRPr lang="en-US" sz="1250" dirty="0"/>
          </a:p>
        </p:txBody>
      </p:sp>
      <p:sp>
        <p:nvSpPr>
          <p:cNvPr id="35" name="Text 33"/>
          <p:cNvSpPr txBox="1"/>
          <p:nvPr/>
        </p:nvSpPr>
        <p:spPr>
          <a:xfrm>
            <a:off x="3931920" y="3904488"/>
            <a:ext cx="4297680" cy="384048"/>
          </a:xfrm>
          <a:prstGeom prst="rect">
            <a:avLst/>
          </a:prstGeom>
          <a:noFill/>
          <a:ln/>
        </p:spPr>
        <p:txBody>
          <a:bodyPr wrap="square" rtlCol="0" anchor="ctr"/>
          <a:lstStyle/>
          <a:p>
            <a:pPr indent="0" marL="0">
              <a:buNone/>
            </a:pPr>
            <a:r>
              <a:rPr lang="en-US" sz="1150" dirty="0">
                <a:solidFill>
                  <a:srgbClr val="222222"/>
                </a:solidFill>
                <a:latin typeface="Calibri" pitchFamily="34" charset="0"/>
                <a:ea typeface="Calibri" pitchFamily="34" charset="-122"/>
                <a:cs typeface="Calibri" pitchFamily="34" charset="-120"/>
              </a:rPr>
              <a:t>Score on untouched test; train-vs-test diagnostics</a:t>
            </a:r>
            <a:endParaRPr lang="en-US" sz="1150" dirty="0"/>
          </a:p>
        </p:txBody>
      </p:sp>
      <p:sp>
        <p:nvSpPr>
          <p:cNvPr id="36" name="Shape 34"/>
          <p:cNvSpPr/>
          <p:nvPr/>
        </p:nvSpPr>
        <p:spPr>
          <a:xfrm>
            <a:off x="8412480" y="1188720"/>
            <a:ext cx="3200400" cy="310896"/>
          </a:xfrm>
          <a:prstGeom prst="rect">
            <a:avLst/>
          </a:prstGeom>
          <a:solidFill>
            <a:srgbClr val="700040"/>
          </a:solidFill>
          <a:ln/>
        </p:spPr>
      </p:sp>
      <p:sp>
        <p:nvSpPr>
          <p:cNvPr id="37" name="Text 35"/>
          <p:cNvSpPr txBox="1"/>
          <p:nvPr/>
        </p:nvSpPr>
        <p:spPr>
          <a:xfrm>
            <a:off x="8412480" y="1188720"/>
            <a:ext cx="320040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Deliverable</a:t>
            </a:r>
            <a:endParaRPr lang="en-US" sz="1300" dirty="0"/>
          </a:p>
        </p:txBody>
      </p:sp>
      <p:sp>
        <p:nvSpPr>
          <p:cNvPr id="38" name="Shape 36"/>
          <p:cNvSpPr/>
          <p:nvPr/>
        </p:nvSpPr>
        <p:spPr>
          <a:xfrm>
            <a:off x="8412480" y="1499616"/>
            <a:ext cx="3200400" cy="1563624"/>
          </a:xfrm>
          <a:prstGeom prst="rect">
            <a:avLst/>
          </a:prstGeom>
          <a:solidFill>
            <a:srgbClr val="F7EAF1"/>
          </a:solidFill>
          <a:ln/>
        </p:spPr>
      </p:sp>
      <p:sp>
        <p:nvSpPr>
          <p:cNvPr id="39" name="Text 37"/>
          <p:cNvSpPr txBox="1"/>
          <p:nvPr/>
        </p:nvSpPr>
        <p:spPr>
          <a:xfrm>
            <a:off x="8549640" y="1591056"/>
            <a:ext cx="2926080" cy="1380744"/>
          </a:xfrm>
          <a:prstGeom prst="rect">
            <a:avLst/>
          </a:prstGeom>
          <a:noFill/>
          <a:ln/>
        </p:spPr>
        <p:txBody>
          <a:bodyPr wrap="square" rtlCol="0" anchor="t"/>
          <a:lstStyle/>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Four Jupyter notebooks:</a:t>
            </a:r>
            <a:endParaRPr lang="en-US" sz="1250" dirty="0"/>
          </a:p>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01_data_loading.ipynb</a:t>
            </a:r>
            <a:endParaRPr lang="en-US" sz="1250" dirty="0"/>
          </a:p>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02_eda.ipynb</a:t>
            </a:r>
            <a:endParaRPr lang="en-US" sz="1250" dirty="0"/>
          </a:p>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03_model_training.ipynb</a:t>
            </a:r>
            <a:endParaRPr lang="en-US" sz="1250" dirty="0"/>
          </a:p>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04_evaluation.ipynb</a:t>
            </a:r>
            <a:endParaRPr lang="en-US" sz="1250" dirty="0"/>
          </a:p>
        </p:txBody>
      </p:sp>
      <p:sp>
        <p:nvSpPr>
          <p:cNvPr id="40" name="Shape 38"/>
          <p:cNvSpPr/>
          <p:nvPr/>
        </p:nvSpPr>
        <p:spPr>
          <a:xfrm>
            <a:off x="8412480" y="3246120"/>
            <a:ext cx="3200400" cy="310896"/>
          </a:xfrm>
          <a:prstGeom prst="rect">
            <a:avLst/>
          </a:prstGeom>
          <a:solidFill>
            <a:srgbClr val="700040"/>
          </a:solidFill>
          <a:ln/>
        </p:spPr>
      </p:sp>
      <p:sp>
        <p:nvSpPr>
          <p:cNvPr id="41" name="Text 39"/>
          <p:cNvSpPr txBox="1"/>
          <p:nvPr/>
        </p:nvSpPr>
        <p:spPr>
          <a:xfrm>
            <a:off x="8412480" y="3246120"/>
            <a:ext cx="320040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42" name="Shape 40"/>
          <p:cNvSpPr/>
          <p:nvPr/>
        </p:nvSpPr>
        <p:spPr>
          <a:xfrm>
            <a:off x="8412480" y="3557016"/>
            <a:ext cx="3200400" cy="1380744"/>
          </a:xfrm>
          <a:prstGeom prst="rect">
            <a:avLst/>
          </a:prstGeom>
          <a:solidFill>
            <a:srgbClr val="F7EAF1"/>
          </a:solidFill>
          <a:ln/>
        </p:spPr>
      </p:sp>
      <p:sp>
        <p:nvSpPr>
          <p:cNvPr id="43" name="Text 41"/>
          <p:cNvSpPr txBox="1"/>
          <p:nvPr/>
        </p:nvSpPr>
        <p:spPr>
          <a:xfrm>
            <a:off x="8549640" y="3648456"/>
            <a:ext cx="2926080" cy="1197864"/>
          </a:xfrm>
          <a:prstGeom prst="rect">
            <a:avLst/>
          </a:prstGeom>
          <a:noFill/>
          <a:ln/>
        </p:spPr>
        <p:txBody>
          <a:bodyPr wrap="square" rtlCol="0" anchor="t"/>
          <a:lstStyle/>
          <a:p>
            <a:pPr indent="0" marL="0">
              <a:lnSpc>
                <a:spcPct val="108000"/>
              </a:lnSpc>
              <a:buNone/>
            </a:pPr>
            <a:r>
              <a:rPr lang="en-US" sz="1050" dirty="0">
                <a:solidFill>
                  <a:srgbClr val="222222"/>
                </a:solidFill>
                <a:latin typeface="Calibri" pitchFamily="34" charset="0"/>
                <a:ea typeface="Calibri" pitchFamily="34" charset="-122"/>
                <a:cs typeface="Calibri" pitchFamily="34" charset="-120"/>
              </a:rPr>
              <a:t>Python 3, Jupyter Notebook, pandas, NumPy, scikit-learn, matplotlib, seaborn, pyarrow, joblib.</a:t>
            </a:r>
            <a:endParaRPr lang="en-US" sz="1250" dirty="0"/>
          </a:p>
        </p:txBody>
      </p:sp>
      <p:sp>
        <p:nvSpPr>
          <p:cNvPr id="44" name="Text 42"/>
          <p:cNvSpPr txBox="1"/>
          <p:nvPr/>
        </p:nvSpPr>
        <p:spPr>
          <a:xfrm>
            <a:off x="548640" y="5120640"/>
            <a:ext cx="11064240" cy="365760"/>
          </a:xfrm>
          <a:prstGeom prst="rect">
            <a:avLst/>
          </a:prstGeom>
          <a:noFill/>
          <a:ln/>
        </p:spPr>
        <p:txBody>
          <a:bodyPr wrap="square" rtlCol="0" anchor="ctr"/>
          <a:lstStyle/>
          <a:p>
            <a:pPr indent="0" marL="0">
              <a:buNone/>
            </a:pPr>
            <a:r>
              <a:rPr lang="en-US" sz="1200" i="1" dirty="0">
                <a:solidFill>
                  <a:srgbClr val="595959"/>
                </a:solidFill>
                <a:latin typeface="Calibri" pitchFamily="34" charset="0"/>
                <a:ea typeface="Calibri" pitchFamily="34" charset="-122"/>
                <a:cs typeface="Calibri" pitchFamily="34" charset="-120"/>
              </a:rPr>
              <a:t>Shared execution sequence for both experiments (Study One — RQ1, Study Two — RQ2), split across the four notebooks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Source Code, Testing &amp; Deployment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18 / 37</a:t>
            </a:r>
            <a:endParaRPr lang="en-US" sz="900" dirty="0"/>
          </a:p>
        </p:txBody>
      </p:sp>
      <p:sp>
        <p:nvSpPr>
          <p:cNvPr id="8" name="Shape 6"/>
          <p:cNvSpPr/>
          <p:nvPr/>
        </p:nvSpPr>
        <p:spPr>
          <a:xfrm>
            <a:off x="548640" y="1234440"/>
            <a:ext cx="5486400" cy="3383280"/>
          </a:xfrm>
          <a:prstGeom prst="rect">
            <a:avLst/>
          </a:prstGeom>
          <a:solidFill>
            <a:srgbClr val="1E1E1E"/>
          </a:solidFill>
          <a:ln/>
        </p:spPr>
      </p:sp>
      <p:sp>
        <p:nvSpPr>
          <p:cNvPr id="9" name="Text 7"/>
          <p:cNvSpPr txBox="1"/>
          <p:nvPr/>
        </p:nvSpPr>
        <p:spPr>
          <a:xfrm>
            <a:off x="685800" y="1325880"/>
            <a:ext cx="5212080" cy="3200400"/>
          </a:xfrm>
          <a:prstGeom prst="rect">
            <a:avLst/>
          </a:prstGeom>
          <a:noFill/>
          <a:ln/>
        </p:spPr>
        <p:txBody>
          <a:bodyPr wrap="square" lIns="0" tIns="0" rIns="0" bIns="0" rtlCol="0" anchor="t"/>
          <a:lstStyle/>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01_data_loading.ipynb — stage 1 of 4</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def haversine_km(lat1, lon1, lat2, lon2):</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lat1, lon1, lat2, lon2 = map(np.radians, [lat1, lon1, lat2, lon2])</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dlat, dlon = lat2 - lat1, lon2 - lon1</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a = np.sin(dlat/2)**2 + np.cos(lat1)*np.cos(lat2)*np.sin(dlon/2)**2</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return 2 * 6371 * np.arcsin(np.sqrt(a))</a:t>
            </a:r>
            <a:endParaRPr lang="en-US" sz="860" dirty="0"/>
          </a:p>
          <a:p>
            <a:pPr indent="0" marL="0">
              <a:lnSpc>
                <a:spcPct val="102000"/>
              </a:lnSpc>
              <a:buNone/>
            </a:pP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def engineer_features(df):</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 = df.copy()</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out['age'] = (out['trans_date_trans_time']</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 out['dob']).dt.days / 365.25</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out['hour'] = out['trans_date_trans_time'].dt.hour</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out['is_night'] = out['hour'].between(0, 5)</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out['distance_km'] = haversine_km(</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out['lat'], out['long'],</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out['merch_lat'], out['merch_long'])</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out['log_amt'] = np.log1p(out['amt'])</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out = pd.get_dummies(out, columns=['category'],</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drop_first=True)</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    return out</a:t>
            </a:r>
            <a:endParaRPr lang="en-US" sz="860" dirty="0"/>
          </a:p>
          <a:p>
            <a:pPr indent="0" marL="0">
              <a:lnSpc>
                <a:spcPct val="102000"/>
              </a:lnSpc>
              <a:buNone/>
            </a:pPr>
            <a:r>
              <a:rPr lang="en-US" sz="860" dirty="0">
                <a:solidFill>
                  <a:srgbClr val="D4D4D4"/>
                </a:solidFill>
                <a:latin typeface="Consolas" pitchFamily="34" charset="0"/>
                <a:ea typeface="Consolas" pitchFamily="34" charset="-122"/>
                <a:cs typeface="Consolas" pitchFamily="34" charset="-120"/>
              </a:rPr>
              <a:t>train_fe.to_parquet(OUT / 'data/train_fe.parquet')</a:t>
            </a:r>
            <a:endParaRPr lang="en-US" sz="860" dirty="0"/>
          </a:p>
        </p:txBody>
      </p:sp>
      <p:sp>
        <p:nvSpPr>
          <p:cNvPr id="10" name="Shape 8"/>
          <p:cNvSpPr/>
          <p:nvPr/>
        </p:nvSpPr>
        <p:spPr>
          <a:xfrm>
            <a:off x="6263640" y="1234440"/>
            <a:ext cx="5349240" cy="310896"/>
          </a:xfrm>
          <a:prstGeom prst="rect">
            <a:avLst/>
          </a:prstGeom>
          <a:solidFill>
            <a:srgbClr val="700040"/>
          </a:solidFill>
          <a:ln/>
        </p:spPr>
      </p:sp>
      <p:sp>
        <p:nvSpPr>
          <p:cNvPr id="11" name="Text 9"/>
          <p:cNvSpPr txBox="1"/>
          <p:nvPr/>
        </p:nvSpPr>
        <p:spPr>
          <a:xfrm>
            <a:off x="6263640" y="123444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Testing &amp; Validation Framework</a:t>
            </a:r>
            <a:endParaRPr lang="en-US" sz="1300" dirty="0"/>
          </a:p>
        </p:txBody>
      </p:sp>
      <p:sp>
        <p:nvSpPr>
          <p:cNvPr id="12" name="Shape 10"/>
          <p:cNvSpPr/>
          <p:nvPr/>
        </p:nvSpPr>
        <p:spPr>
          <a:xfrm>
            <a:off x="6263640" y="1545336"/>
            <a:ext cx="5349240" cy="1563624"/>
          </a:xfrm>
          <a:prstGeom prst="rect">
            <a:avLst/>
          </a:prstGeom>
          <a:solidFill>
            <a:srgbClr val="F7EAF1"/>
          </a:solidFill>
          <a:ln/>
        </p:spPr>
      </p:sp>
      <p:sp>
        <p:nvSpPr>
          <p:cNvPr id="13" name="Text 11"/>
          <p:cNvSpPr txBox="1"/>
          <p:nvPr/>
        </p:nvSpPr>
        <p:spPr>
          <a:xfrm>
            <a:off x="6400800" y="1636776"/>
            <a:ext cx="5074920" cy="1380744"/>
          </a:xfrm>
          <a:prstGeom prst="rect">
            <a:avLst/>
          </a:prstGeom>
          <a:noFill/>
          <a:ln/>
        </p:spPr>
        <p:txBody>
          <a:bodyPr wrap="square" rtlCol="0" anchor="t"/>
          <a:lstStyle/>
          <a:p>
            <a:pPr indent="0" marL="0">
              <a:lnSpc>
                <a:spcPct val="108000"/>
              </a:lnSpc>
              <a:buNone/>
            </a:pPr>
            <a:r>
              <a:rPr lang="en-US" sz="1150" dirty="0">
                <a:solidFill>
                  <a:srgbClr val="222222"/>
                </a:solidFill>
                <a:latin typeface="Calibri" pitchFamily="34" charset="0"/>
                <a:ea typeface="Calibri" pitchFamily="34" charset="-122"/>
                <a:cs typeface="Calibri" pitchFamily="34" charset="-120"/>
              </a:rPr>
              <a:t>Eight system-level checks, all passed: no missing values · no duplicate rows · zero transaction-ID overlap · exact 1:1 class parity in the balanced set · scaler fitted on training data only · identical metrics on re-run under the fixed seed · identical columns across train and test · identical metrics after the code was split into four notebooks.</a:t>
            </a:r>
            <a:endParaRPr lang="en-US" sz="1250" dirty="0"/>
          </a:p>
        </p:txBody>
      </p:sp>
      <p:sp>
        <p:nvSpPr>
          <p:cNvPr id="14" name="Shape 12"/>
          <p:cNvSpPr/>
          <p:nvPr/>
        </p:nvSpPr>
        <p:spPr>
          <a:xfrm>
            <a:off x="6263640" y="3246120"/>
            <a:ext cx="5349240" cy="310896"/>
          </a:xfrm>
          <a:prstGeom prst="rect">
            <a:avLst/>
          </a:prstGeom>
          <a:solidFill>
            <a:srgbClr val="700040"/>
          </a:solidFill>
          <a:ln/>
        </p:spPr>
      </p:sp>
      <p:sp>
        <p:nvSpPr>
          <p:cNvPr id="15" name="Text 13"/>
          <p:cNvSpPr txBox="1"/>
          <p:nvPr/>
        </p:nvSpPr>
        <p:spPr>
          <a:xfrm>
            <a:off x="6263640" y="324612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Model</a:t>
            </a:r>
            <a:endParaRPr lang="en-US" sz="1300" dirty="0"/>
          </a:p>
        </p:txBody>
      </p:sp>
      <p:sp>
        <p:nvSpPr>
          <p:cNvPr id="16" name="Shape 14"/>
          <p:cNvSpPr/>
          <p:nvPr/>
        </p:nvSpPr>
        <p:spPr>
          <a:xfrm>
            <a:off x="6263640" y="3557016"/>
            <a:ext cx="5349240" cy="1060704"/>
          </a:xfrm>
          <a:prstGeom prst="rect">
            <a:avLst/>
          </a:prstGeom>
          <a:solidFill>
            <a:srgbClr val="F7EAF1"/>
          </a:solidFill>
          <a:ln/>
        </p:spPr>
      </p:sp>
      <p:sp>
        <p:nvSpPr>
          <p:cNvPr id="17" name="Text 15"/>
          <p:cNvSpPr txBox="1"/>
          <p:nvPr/>
        </p:nvSpPr>
        <p:spPr>
          <a:xfrm>
            <a:off x="6400800" y="3648456"/>
            <a:ext cx="5074920" cy="877824"/>
          </a:xfrm>
          <a:prstGeom prst="rect">
            <a:avLst/>
          </a:prstGeom>
          <a:noFill/>
          <a:ln/>
        </p:spPr>
        <p:txBody>
          <a:bodyPr wrap="square" rtlCol="0" anchor="t"/>
          <a:lstStyle/>
          <a:p>
            <a:pPr indent="0" marL="0">
              <a:lnSpc>
                <a:spcPct val="108000"/>
              </a:lnSpc>
              <a:buNone/>
            </a:pPr>
            <a:r>
              <a:rPr lang="en-US" sz="1150" dirty="0">
                <a:solidFill>
                  <a:srgbClr val="222222"/>
                </a:solidFill>
                <a:latin typeface="Calibri" pitchFamily="34" charset="0"/>
                <a:ea typeface="Calibri" pitchFamily="34" charset="-122"/>
                <a:cs typeface="Calibri" pitchFamily="34" charset="-120"/>
              </a:rPr>
              <a:t>A reproducible research pipeline, not a hosted service. The same four notebooks run on a local machine or as four chained Kaggle kernels, each stage reading the previous stage's output. Every run is deterministic under the fixed seed.</a:t>
            </a:r>
            <a:endParaRPr lang="en-US" sz="1250" dirty="0"/>
          </a:p>
        </p:txBody>
      </p:sp>
      <p:sp>
        <p:nvSpPr>
          <p:cNvPr id="18" name="Text 16"/>
          <p:cNvSpPr txBox="1"/>
          <p:nvPr/>
        </p:nvSpPr>
        <p:spPr>
          <a:xfrm>
            <a:off x="548640" y="4754880"/>
            <a:ext cx="11064240" cy="1463040"/>
          </a:xfrm>
          <a:prstGeom prst="rect">
            <a:avLst/>
          </a:prstGeom>
          <a:noFill/>
          <a:ln/>
        </p:spPr>
        <p:txBody>
          <a:bodyPr wrap="square" rtlCol="0" anchor="t"/>
          <a:lstStyle/>
          <a:p>
            <a:pPr indent="0" marL="0">
              <a:lnSpc>
                <a:spcPct val="115000"/>
              </a:lnSpc>
              <a:buNone/>
            </a:pPr>
            <a:r>
              <a:rPr lang="en-US" sz="1100" b="1" dirty="0">
                <a:solidFill>
                  <a:srgbClr val="700040"/>
                </a:solidFill>
                <a:latin typeface="Calibri" pitchFamily="34" charset="0"/>
                <a:ea typeface="Calibri" pitchFamily="34" charset="-122"/>
                <a:cs typeface="Calibri" pitchFamily="34" charset="-120"/>
              </a:rPr>
              <a:t>Identifiers removed explicitly: </a:t>
            </a:r>
            <a:pPr indent="0" marL="0">
              <a:lnSpc>
                <a:spcPct val="115000"/>
              </a:lnSpc>
              <a:buNone/>
            </a:pPr>
            <a:r>
              <a:rPr lang="en-US" sz="1100" dirty="0">
                <a:solidFill>
                  <a:srgbClr val="222222"/>
                </a:solidFill>
                <a:latin typeface="Calibri" pitchFamily="34" charset="0"/>
                <a:ea typeface="Calibri" pitchFamily="34" charset="-122"/>
                <a:cs typeface="Calibri" pitchFamily="34" charset="-120"/>
              </a:rPr>
              <a:t>card number, transaction ID, names, address, merchant name, occupation, raw latitude/longitude and Unix timestamp — each could let a flexible model memorise entities instead of generalising.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Exploratory Evidence Behind the Design III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19 / 37</a:t>
            </a:r>
            <a:endParaRPr lang="en-US" sz="900" dirty="0"/>
          </a:p>
        </p:txBody>
      </p:sp>
      <p:sp>
        <p:nvSpPr>
          <p:cNvPr id="8" name="Text 6"/>
          <p:cNvSpPr txBox="1"/>
          <p:nvPr/>
        </p:nvSpPr>
        <p:spPr>
          <a:xfrm>
            <a:off x="548640" y="1143000"/>
            <a:ext cx="11064240" cy="320040"/>
          </a:xfrm>
          <a:prstGeom prst="rect">
            <a:avLst/>
          </a:prstGeom>
          <a:noFill/>
          <a:ln/>
        </p:spPr>
        <p:txBody>
          <a:bodyPr wrap="square"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The exploratory analysis below directly shaped the feature engineering used in Stage 3 of the pipeline.</a:t>
            </a:r>
            <a:endParaRPr lang="en-US" sz="1250" dirty="0"/>
          </a:p>
        </p:txBody>
      </p:sp>
      <p:pic>
        <p:nvPicPr>
          <p:cNvPr id="9" name="Image 0" descr="Class imbalance in the training and test partitions (output/plots/02_class_imbalance.png)">    </p:cNvPr>
          <p:cNvPicPr>
            <a:picLocks noChangeAspect="1"/>
          </p:cNvPicPr>
          <p:nvPr/>
        </p:nvPicPr>
        <p:blipFill>
          <a:blip r:embed="rId1"/>
          <a:srcRect l="0" r="0" t="0" b="0"/>
          <a:stretch/>
        </p:blipFill>
        <p:spPr>
          <a:xfrm>
            <a:off x="548640" y="1508760"/>
            <a:ext cx="5440680" cy="2011680"/>
          </a:xfrm>
          <a:prstGeom prst="rect">
            <a:avLst/>
          </a:prstGeom>
        </p:spPr>
      </p:pic>
      <p:sp>
        <p:nvSpPr>
          <p:cNvPr id="10" name="Text 7"/>
          <p:cNvSpPr txBox="1"/>
          <p:nvPr/>
        </p:nvSpPr>
        <p:spPr>
          <a:xfrm>
            <a:off x="548640" y="3547872"/>
            <a:ext cx="5440680" cy="27432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Class imbalance: training and test partitions</a:t>
            </a:r>
            <a:endParaRPr lang="en-US" sz="1050" dirty="0"/>
          </a:p>
        </p:txBody>
      </p:sp>
      <p:pic>
        <p:nvPicPr>
          <p:cNvPr id="11" name="Image 1" descr="Transaction amount by class (output/plots/03_amount_by_class.png)">    </p:cNvPr>
          <p:cNvPicPr>
            <a:picLocks noChangeAspect="1"/>
          </p:cNvPicPr>
          <p:nvPr/>
        </p:nvPicPr>
        <p:blipFill>
          <a:blip r:embed="rId2"/>
          <a:srcRect l="0" r="0" t="0" b="0"/>
          <a:stretch/>
        </p:blipFill>
        <p:spPr>
          <a:xfrm>
            <a:off x="6172200" y="1508760"/>
            <a:ext cx="5440680" cy="2011680"/>
          </a:xfrm>
          <a:prstGeom prst="rect">
            <a:avLst/>
          </a:prstGeom>
        </p:spPr>
      </p:pic>
      <p:sp>
        <p:nvSpPr>
          <p:cNvPr id="12" name="Text 8"/>
          <p:cNvSpPr txBox="1"/>
          <p:nvPr/>
        </p:nvSpPr>
        <p:spPr>
          <a:xfrm>
            <a:off x="6172200" y="3547872"/>
            <a:ext cx="5440680" cy="27432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Transaction amount by class</a:t>
            </a:r>
            <a:endParaRPr lang="en-US" sz="1050" dirty="0"/>
          </a:p>
        </p:txBody>
      </p:sp>
      <p:pic>
        <p:nvPicPr>
          <p:cNvPr id="13" name="Image 2" descr="Fraud rate by hour of day (output/plots/04_fraud_rate_by_hour.png)">    </p:cNvPr>
          <p:cNvPicPr>
            <a:picLocks noChangeAspect="1"/>
          </p:cNvPicPr>
          <p:nvPr/>
        </p:nvPicPr>
        <p:blipFill>
          <a:blip r:embed="rId3"/>
          <a:srcRect l="0" r="0" t="0" b="0"/>
          <a:stretch/>
        </p:blipFill>
        <p:spPr>
          <a:xfrm>
            <a:off x="548640" y="3977640"/>
            <a:ext cx="5440680" cy="2011680"/>
          </a:xfrm>
          <a:prstGeom prst="rect">
            <a:avLst/>
          </a:prstGeom>
        </p:spPr>
      </p:pic>
      <p:sp>
        <p:nvSpPr>
          <p:cNvPr id="14" name="Text 9"/>
          <p:cNvSpPr txBox="1"/>
          <p:nvPr/>
        </p:nvSpPr>
        <p:spPr>
          <a:xfrm>
            <a:off x="548640" y="6016752"/>
            <a:ext cx="5440680" cy="27432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Fraud rate by hour of day</a:t>
            </a:r>
            <a:endParaRPr lang="en-US" sz="1050" dirty="0"/>
          </a:p>
        </p:txBody>
      </p:sp>
      <p:pic>
        <p:nvPicPr>
          <p:cNvPr id="15" name="Image 3" descr="Fraud rate by merchant category (output/plots/05_fraud_rate_by_category.png)">    </p:cNvPr>
          <p:cNvPicPr>
            <a:picLocks noChangeAspect="1"/>
          </p:cNvPicPr>
          <p:nvPr/>
        </p:nvPicPr>
        <p:blipFill>
          <a:blip r:embed="rId4"/>
          <a:srcRect l="0" r="0" t="0" b="0"/>
          <a:stretch/>
        </p:blipFill>
        <p:spPr>
          <a:xfrm>
            <a:off x="6172200" y="3977640"/>
            <a:ext cx="5440680" cy="2011680"/>
          </a:xfrm>
          <a:prstGeom prst="rect">
            <a:avLst/>
          </a:prstGeom>
        </p:spPr>
      </p:pic>
      <p:sp>
        <p:nvSpPr>
          <p:cNvPr id="16" name="Text 10"/>
          <p:cNvSpPr txBox="1"/>
          <p:nvPr/>
        </p:nvSpPr>
        <p:spPr>
          <a:xfrm>
            <a:off x="6172200" y="6016752"/>
            <a:ext cx="5440680" cy="27432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Fraud rate by merchant category</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Balanced Subset &amp; Model Configuration IV</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20 / 37</a:t>
            </a:r>
            <a:endParaRPr lang="en-US" sz="900" dirty="0"/>
          </a:p>
        </p:txBody>
      </p:sp>
      <p:pic>
        <p:nvPicPr>
          <p:cNvPr id="8" name="Image 0" descr="Training class distribution before and after Random Under-Sampling (output/plots/07_before_after_balancing.png)">    </p:cNvPr>
          <p:cNvPicPr>
            <a:picLocks noChangeAspect="1"/>
          </p:cNvPicPr>
          <p:nvPr/>
        </p:nvPicPr>
        <p:blipFill>
          <a:blip r:embed="rId1"/>
          <a:stretch>
            <a:fillRect/>
          </a:stretch>
        </p:blipFill>
        <p:spPr>
          <a:xfrm>
            <a:off x="548640" y="1188720"/>
            <a:ext cx="5120640" cy="1998299"/>
          </a:xfrm>
          <a:prstGeom prst="rect">
            <a:avLst/>
          </a:prstGeom>
        </p:spPr>
      </p:pic>
      <p:sp>
        <p:nvSpPr>
          <p:cNvPr id="9" name="Text 6"/>
          <p:cNvSpPr txBox="1"/>
          <p:nvPr/>
        </p:nvSpPr>
        <p:spPr>
          <a:xfrm>
            <a:off x="548640" y="3232739"/>
            <a:ext cx="5120640" cy="27432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Training class distribution before and after Random Under-Sampling</a:t>
            </a:r>
            <a:endParaRPr lang="en-US" sz="1050" dirty="0"/>
          </a:p>
        </p:txBody>
      </p:sp>
      <p:sp>
        <p:nvSpPr>
          <p:cNvPr id="10" name="Text 7"/>
          <p:cNvSpPr txBox="1"/>
          <p:nvPr/>
        </p:nvSpPr>
        <p:spPr>
          <a:xfrm>
            <a:off x="548640" y="3749040"/>
            <a:ext cx="2514600" cy="548640"/>
          </a:xfrm>
          <a:prstGeom prst="rect">
            <a:avLst/>
          </a:prstGeom>
          <a:noFill/>
          <a:ln/>
        </p:spPr>
        <p:txBody>
          <a:bodyPr wrap="square" rtlCol="0" anchor="b"/>
          <a:lstStyle/>
          <a:p>
            <a:pPr algn="ctr" indent="0" marL="0">
              <a:buNone/>
            </a:pPr>
            <a:r>
              <a:rPr lang="en-US" sz="3000" b="1" dirty="0">
                <a:solidFill>
                  <a:srgbClr val="9E0059"/>
                </a:solidFill>
                <a:latin typeface="Calibri" pitchFamily="34" charset="0"/>
                <a:ea typeface="Calibri" pitchFamily="34" charset="-122"/>
                <a:cs typeface="Calibri" pitchFamily="34" charset="-120"/>
              </a:rPr>
              <a:t>1,281,663</a:t>
            </a:r>
            <a:endParaRPr lang="en-US" sz="3000" dirty="0"/>
          </a:p>
        </p:txBody>
      </p:sp>
      <p:sp>
        <p:nvSpPr>
          <p:cNvPr id="11" name="Text 8"/>
          <p:cNvSpPr txBox="1"/>
          <p:nvPr/>
        </p:nvSpPr>
        <p:spPr>
          <a:xfrm>
            <a:off x="548640" y="4297680"/>
            <a:ext cx="2514600" cy="365760"/>
          </a:xfrm>
          <a:prstGeom prst="rect">
            <a:avLst/>
          </a:prstGeom>
          <a:noFill/>
          <a:ln/>
        </p:spPr>
        <p:txBody>
          <a:bodyPr wrap="square" rtlCol="0" anchor="t"/>
          <a:lstStyle/>
          <a:p>
            <a:pPr algn="ctr" indent="0" marL="0">
              <a:buNone/>
            </a:pPr>
            <a:r>
              <a:rPr lang="en-US" sz="1050" dirty="0">
                <a:solidFill>
                  <a:srgbClr val="595959"/>
                </a:solidFill>
                <a:latin typeface="Calibri" pitchFamily="34" charset="0"/>
                <a:ea typeface="Calibri" pitchFamily="34" charset="-122"/>
                <a:cs typeface="Calibri" pitchFamily="34" charset="-120"/>
              </a:rPr>
              <a:t>legitimate rows discarded (99.42% of majority class)</a:t>
            </a:r>
            <a:endParaRPr lang="en-US" sz="1050" dirty="0"/>
          </a:p>
        </p:txBody>
      </p:sp>
      <p:sp>
        <p:nvSpPr>
          <p:cNvPr id="12" name="Text 9"/>
          <p:cNvSpPr txBox="1"/>
          <p:nvPr/>
        </p:nvSpPr>
        <p:spPr>
          <a:xfrm>
            <a:off x="3154680" y="3749040"/>
            <a:ext cx="2514600" cy="548640"/>
          </a:xfrm>
          <a:prstGeom prst="rect">
            <a:avLst/>
          </a:prstGeom>
          <a:noFill/>
          <a:ln/>
        </p:spPr>
        <p:txBody>
          <a:bodyPr wrap="square" rtlCol="0" anchor="b"/>
          <a:lstStyle/>
          <a:p>
            <a:pPr algn="ctr" indent="0" marL="0">
              <a:buNone/>
            </a:pPr>
            <a:r>
              <a:rPr lang="en-US" sz="3000" b="1" dirty="0">
                <a:solidFill>
                  <a:srgbClr val="9E0059"/>
                </a:solidFill>
                <a:latin typeface="Calibri" pitchFamily="34" charset="0"/>
                <a:ea typeface="Calibri" pitchFamily="34" charset="-122"/>
                <a:cs typeface="Calibri" pitchFamily="34" charset="-120"/>
              </a:rPr>
              <a:t>15,012</a:t>
            </a:r>
            <a:endParaRPr lang="en-US" sz="3000" dirty="0"/>
          </a:p>
        </p:txBody>
      </p:sp>
      <p:sp>
        <p:nvSpPr>
          <p:cNvPr id="13" name="Text 10"/>
          <p:cNvSpPr txBox="1"/>
          <p:nvPr/>
        </p:nvSpPr>
        <p:spPr>
          <a:xfrm>
            <a:off x="3154680" y="4297680"/>
            <a:ext cx="2514600" cy="365760"/>
          </a:xfrm>
          <a:prstGeom prst="rect">
            <a:avLst/>
          </a:prstGeom>
          <a:noFill/>
          <a:ln/>
        </p:spPr>
        <p:txBody>
          <a:bodyPr wrap="square" rtlCol="0" anchor="t"/>
          <a:lstStyle/>
          <a:p>
            <a:pPr algn="ctr" indent="0" marL="0">
              <a:buNone/>
            </a:pPr>
            <a:r>
              <a:rPr lang="en-US" sz="1050" dirty="0">
                <a:solidFill>
                  <a:srgbClr val="595959"/>
                </a:solidFill>
                <a:latin typeface="Calibri" pitchFamily="34" charset="0"/>
                <a:ea typeface="Calibri" pitchFamily="34" charset="-122"/>
                <a:cs typeface="Calibri" pitchFamily="34" charset="-120"/>
              </a:rPr>
              <a:t>rows in the balanced 1:1 training set (7,506 = 7,506)</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035040" y="1188720"/>
          <a:ext cx="5577840" cy="914400"/>
        </p:xfrm>
        <a:graphic>
          <a:graphicData uri="http://schemas.openxmlformats.org/drawingml/2006/table">
            <a:tbl>
              <a:tblPr/>
              <a:tblGrid>
                <a:gridCol w="1737360"/>
                <a:gridCol w="1280160"/>
                <a:gridCol w="2560320"/>
              </a:tblGrid>
              <a:tr h="365760">
                <a:tc>
                  <a:txBody>
                    <a:bodyPr/>
                    <a:lstStyle/>
                    <a:p>
                      <a:pPr algn="ctr" indent="0" marL="0">
                        <a:buNone/>
                      </a:pPr>
                      <a:r>
                        <a:rPr lang="en-US" sz="970" b="1" dirty="0">
                          <a:solidFill>
                            <a:srgbClr val="FFFFFF"/>
                          </a:solidFill>
                          <a:latin typeface="Calibri" pitchFamily="34" charset="0"/>
                          <a:ea typeface="Calibri" pitchFamily="34" charset="-122"/>
                          <a:cs typeface="Calibri" pitchFamily="34" charset="-120"/>
                        </a:rPr>
                        <a:t>Model</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970" b="1" dirty="0">
                          <a:solidFill>
                            <a:srgbClr val="FFFFFF"/>
                          </a:solidFill>
                          <a:latin typeface="Calibri" pitchFamily="34" charset="0"/>
                          <a:ea typeface="Calibri" pitchFamily="34" charset="-122"/>
                          <a:cs typeface="Calibri" pitchFamily="34" charset="-120"/>
                        </a:rPr>
                        <a:t>Type</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970" b="1" dirty="0">
                          <a:solidFill>
                            <a:srgbClr val="FFFFFF"/>
                          </a:solidFill>
                          <a:latin typeface="Calibri" pitchFamily="34" charset="0"/>
                          <a:ea typeface="Calibri" pitchFamily="34" charset="-122"/>
                          <a:cs typeface="Calibri" pitchFamily="34" charset="-120"/>
                        </a:rPr>
                        <a:t>Key configuration</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r>
              <a:tr h="365760">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Logistic Regression</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Supervised</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max_iter=1000, L2 default</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65760">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Random Forest</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Supervised</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n_estimators=100, max_depth=16</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65760">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Isolation Forest</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Unsupervised</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n_estimators=100, contamination = train fraud rate</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65760">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One-Class SVM</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Unsupervised</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RBF kernel, nu=0.01, 40k legitimate subsample</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65760">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Local Outlier Factor</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Unsupervised</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970" dirty="0">
                          <a:solidFill>
                            <a:srgbClr val="222222"/>
                          </a:solidFill>
                          <a:latin typeface="Calibri" pitchFamily="34" charset="0"/>
                          <a:ea typeface="Calibri" pitchFamily="34" charset="-122"/>
                          <a:cs typeface="Calibri" pitchFamily="34" charset="-120"/>
                        </a:rPr>
                        <a:t>n_neighbors=20, novelty=True, same subsample</a:t>
                      </a:r>
                      <a:endParaRPr lang="en-US" sz="9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6035040" y="3520440"/>
            <a:ext cx="5577840" cy="365760"/>
          </a:xfrm>
          <a:prstGeom prst="rect">
            <a:avLst/>
          </a:prstGeom>
          <a:noFill/>
          <a:ln/>
        </p:spPr>
        <p:txBody>
          <a:bodyPr wrap="square" rtlCol="0" anchor="ctr"/>
          <a:lstStyle/>
          <a:p>
            <a:pPr indent="0" marL="0">
              <a:buNone/>
            </a:pPr>
            <a:r>
              <a:rPr lang="en-US" sz="1050" i="1" dirty="0">
                <a:solidFill>
                  <a:srgbClr val="595959"/>
                </a:solidFill>
                <a:latin typeface="Calibri" pitchFamily="34" charset="0"/>
                <a:ea typeface="Calibri" pitchFamily="34" charset="-122"/>
                <a:cs typeface="Calibri" pitchFamily="34" charset="-120"/>
              </a:rPr>
              <a:t>Reproducibility: a single fixed random seed (42) used across every stochastic step.</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6. Results</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21 / 37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Results: Headline Findings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22 / 37</a:t>
            </a:r>
            <a:endParaRPr lang="en-US" sz="900" dirty="0"/>
          </a:p>
        </p:txBody>
      </p:sp>
      <p:sp>
        <p:nvSpPr>
          <p:cNvPr id="8" name="Text 6"/>
          <p:cNvSpPr txBox="1"/>
          <p:nvPr/>
        </p:nvSpPr>
        <p:spPr>
          <a:xfrm>
            <a:off x="548640" y="1188720"/>
            <a:ext cx="11064240" cy="502920"/>
          </a:xfrm>
          <a:prstGeom prst="rect">
            <a:avLst/>
          </a:prstGeom>
          <a:noFill/>
          <a:ln/>
        </p:spPr>
        <p:txBody>
          <a:bodyPr wrap="square" rtlCol="0" anchor="ctr"/>
          <a:lstStyle/>
          <a:p>
            <a:pPr indent="0" marL="0">
              <a:buNone/>
            </a:pPr>
            <a:r>
              <a:rPr lang="en-US" sz="1250" i="1" dirty="0">
                <a:solidFill>
                  <a:srgbClr val="595959"/>
                </a:solidFill>
                <a:latin typeface="Calibri" pitchFamily="34" charset="0"/>
                <a:ea typeface="Calibri" pitchFamily="34" charset="-122"/>
                <a:cs typeface="Calibri" pitchFamily="34" charset="-120"/>
              </a:rPr>
              <a:t>A classifier predicting “legitimate” for every record would score 99.61% accuracy while catching zero fraud — accuracy alone is discarded as a decision criterion.</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3200400"/>
                <a:gridCol w="1307592"/>
                <a:gridCol w="1307592"/>
                <a:gridCol w="1307592"/>
                <a:gridCol w="1307592"/>
                <a:gridCol w="1307592"/>
                <a:gridCol w="1325880"/>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PR-AUC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r>
              <a:tr h="502920">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Imbalanced · Logistic Regression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0.9967</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0.7778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0.2186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0.3413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0.8619</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0.3463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Imbalanced · Random Forest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0.9989</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0.9426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0.7506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0.8357</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0.9961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0.8819</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502920">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Balanced · Logistic Regression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0.8977</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0.0303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0.8233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0.0585</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0.9514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0.1633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Balanced · Random Forest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0.9787</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0.1506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0.9716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0.2608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0.9968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50" dirty="0">
                          <a:solidFill>
                            <a:srgbClr val="222222"/>
                          </a:solidFill>
                          <a:latin typeface="Calibri" pitchFamily="34" charset="0"/>
                          <a:ea typeface="Calibri" pitchFamily="34" charset="-122"/>
                          <a:cs typeface="Calibri" pitchFamily="34" charset="-120"/>
                        </a:rPr>
                        <a:t>0.8014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bl>
          </a:graphicData>
        </a:graphic>
      </p:graphicFrame>
      <p:sp>
        <p:nvSpPr>
          <p:cNvPr id="10" name="Text 7"/>
          <p:cNvSpPr txBox="1"/>
          <p:nvPr/>
        </p:nvSpPr>
        <p:spPr>
          <a:xfrm>
            <a:off x="548640" y="4937760"/>
            <a:ext cx="11064240" cy="365760"/>
          </a:xfrm>
          <a:prstGeom prst="rect">
            <a:avLst/>
          </a:prstGeom>
          <a:noFill/>
          <a:ln/>
        </p:spPr>
        <p:txBody>
          <a:bodyPr wrap="square" rtlCol="0" anchor="ctr"/>
          <a:lstStyle/>
          <a:p>
            <a:pPr indent="0" marL="0">
              <a:buNone/>
            </a:pPr>
            <a:r>
              <a:rPr lang="en-US" sz="1150" b="1" dirty="0">
                <a:solidFill>
                  <a:srgbClr val="700040"/>
                </a:solidFill>
                <a:latin typeface="Calibri" pitchFamily="34" charset="0"/>
                <a:ea typeface="Calibri" pitchFamily="34" charset="-122"/>
                <a:cs typeface="Calibri" pitchFamily="34" charset="-120"/>
              </a:rPr>
              <a:t>Highlighted trade-off: the Imbalanced Random Forest gives the best overall balance across the six-metric suite.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Results: Discrimination &amp; Decision Evidence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23 / 37</a:t>
            </a:r>
            <a:endParaRPr lang="en-US" sz="900" dirty="0"/>
          </a:p>
        </p:txBody>
      </p:sp>
      <p:pic>
        <p:nvPicPr>
          <p:cNvPr id="8" name="Image 0" descr="ROC and precision-recall curves for all four supervised models (output/plots/09_balancing_roc_pr_curves.png)">    </p:cNvPr>
          <p:cNvPicPr>
            <a:picLocks noChangeAspect="1"/>
          </p:cNvPicPr>
          <p:nvPr/>
        </p:nvPicPr>
        <p:blipFill>
          <a:blip r:embed="rId1"/>
          <a:stretch>
            <a:fillRect/>
          </a:stretch>
        </p:blipFill>
        <p:spPr>
          <a:xfrm>
            <a:off x="548640" y="1234440"/>
            <a:ext cx="5486400" cy="2505111"/>
          </a:xfrm>
          <a:prstGeom prst="rect">
            <a:avLst/>
          </a:prstGeom>
        </p:spPr>
      </p:pic>
      <p:sp>
        <p:nvSpPr>
          <p:cNvPr id="9" name="Text 6"/>
          <p:cNvSpPr txBox="1"/>
          <p:nvPr/>
        </p:nvSpPr>
        <p:spPr>
          <a:xfrm>
            <a:off x="548640" y="3785271"/>
            <a:ext cx="5486400" cy="45720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ROC and precision-recall curves, all four supervised models</a:t>
            </a:r>
            <a:endParaRPr lang="en-US" sz="1050" dirty="0"/>
          </a:p>
        </p:txBody>
      </p:sp>
      <p:pic>
        <p:nvPicPr>
          <p:cNvPr id="10" name="Image 1" descr="Confusion matrices for Random Forest, imbalanced versus balanced training (output/plots/10_balancing_confusion_matrices.png)">    </p:cNvPr>
          <p:cNvPicPr>
            <a:picLocks noChangeAspect="1"/>
          </p:cNvPicPr>
          <p:nvPr/>
        </p:nvPicPr>
        <p:blipFill>
          <a:blip r:embed="rId2"/>
          <a:stretch>
            <a:fillRect/>
          </a:stretch>
        </p:blipFill>
        <p:spPr>
          <a:xfrm>
            <a:off x="6172200" y="1234440"/>
            <a:ext cx="5486400" cy="2165239"/>
          </a:xfrm>
          <a:prstGeom prst="rect">
            <a:avLst/>
          </a:prstGeom>
        </p:spPr>
      </p:pic>
      <p:sp>
        <p:nvSpPr>
          <p:cNvPr id="11" name="Text 7"/>
          <p:cNvSpPr txBox="1"/>
          <p:nvPr/>
        </p:nvSpPr>
        <p:spPr>
          <a:xfrm>
            <a:off x="6172200" y="3445399"/>
            <a:ext cx="5486400" cy="45720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Confusion matrices, Random Forest, imbalanced vs. balanced regime</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64240" cy="914400"/>
        </p:xfrm>
        <a:graphic>
          <a:graphicData uri="http://schemas.openxmlformats.org/drawingml/2006/table">
            <a:tbl>
              <a:tblPr/>
              <a:tblGrid>
                <a:gridCol w="3685032"/>
                <a:gridCol w="3685032"/>
                <a:gridCol w="3694176"/>
              </a:tblGrid>
              <a:tr h="347472">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Imbalanced RF</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Balanced RF</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E0059"/>
                    </a:solidFill>
                  </a:tcPr>
                </a:tc>
              </a:tr>
              <a:tr h="347472">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Alerts raised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1,708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13,838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Frauds missed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535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47472">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Reviews per fraud found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Results: Alignment to the Research Question III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24 / 37</a:t>
            </a:r>
            <a:endParaRPr lang="en-US" sz="900" dirty="0"/>
          </a:p>
        </p:txBody>
      </p:sp>
      <p:sp>
        <p:nvSpPr>
          <p:cNvPr id="8" name="Text 6"/>
          <p:cNvSpPr txBox="1"/>
          <p:nvPr/>
        </p:nvSpPr>
        <p:spPr>
          <a:xfrm>
            <a:off x="548640" y="1234440"/>
            <a:ext cx="5212080" cy="1554480"/>
          </a:xfrm>
          <a:prstGeom prst="rect">
            <a:avLst/>
          </a:prstGeom>
          <a:noFill/>
          <a:ln/>
        </p:spPr>
        <p:txBody>
          <a:bodyPr wrap="square" rtlCol="0" anchor="t"/>
          <a:lstStyle/>
          <a:p>
            <a:pPr marL="342900" indent="-342900">
              <a:lnSpc>
                <a:spcPct val="105000"/>
              </a:lnSpc>
              <a:buSzPct val="100000"/>
              <a:buChar char="•"/>
            </a:pPr>
            <a:r>
              <a:rPr lang="en-US" sz="1300" b="1" dirty="0">
                <a:solidFill>
                  <a:srgbClr val="700040"/>
                </a:solidFill>
                <a:latin typeface="Calibri" pitchFamily="34" charset="0"/>
                <a:ea typeface="Calibri" pitchFamily="34" charset="-122"/>
                <a:cs typeface="Calibri" pitchFamily="34" charset="-120"/>
              </a:rPr>
              <a:t>Alignment to RQ1: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the Imbalanced Random Forest gives the best precision, F1 and PR-AUC while raising the fewest alerts — directly answering RQ1 that balancing is not required for strong detection on this dataset.</a:t>
            </a:r>
            <a:endParaRPr lang="en-US" sz="1300" dirty="0"/>
          </a:p>
        </p:txBody>
      </p:sp>
      <p:sp>
        <p:nvSpPr>
          <p:cNvPr id="9" name="Text 7"/>
          <p:cNvSpPr txBox="1"/>
          <p:nvPr/>
        </p:nvSpPr>
        <p:spPr>
          <a:xfrm>
            <a:off x="548640" y="2926080"/>
            <a:ext cx="5212080" cy="2377440"/>
          </a:xfrm>
          <a:prstGeom prst="rect">
            <a:avLst/>
          </a:prstGeom>
          <a:noFill/>
          <a:ln/>
        </p:spPr>
        <p:txBody>
          <a:bodyPr wrap="square" rtlCol="0" anchor="t"/>
          <a:lstStyle/>
          <a:p>
            <a:pPr marL="342900" indent="-342900">
              <a:lnSpc>
                <a:spcPct val="105000"/>
              </a:lnSpc>
              <a:spcAft>
                <a:spcPts val="800"/>
              </a:spcAft>
              <a:buSzPct val="100000"/>
              <a:buChar char="•"/>
            </a:pPr>
            <a:r>
              <a:rPr lang="en-US" sz="1200" b="1" dirty="0">
                <a:solidFill>
                  <a:srgbClr val="700040"/>
                </a:solidFill>
                <a:latin typeface="Calibri" pitchFamily="34" charset="0"/>
                <a:ea typeface="Calibri" pitchFamily="34" charset="-122"/>
                <a:cs typeface="Calibri" pitchFamily="34" charset="-120"/>
              </a:rPr>
              <a:t>Amount dominates: </a:t>
            </a:r>
            <a:pPr indent="0" marL="0">
              <a:lnSpc>
                <a:spcPct val="105000"/>
              </a:lnSpc>
              <a:buNone/>
            </a:pPr>
            <a:r>
              <a:rPr lang="en-US" sz="1200" dirty="0">
                <a:solidFill>
                  <a:srgbClr val="222222"/>
                </a:solidFill>
                <a:latin typeface="Calibri" pitchFamily="34" charset="0"/>
                <a:ea typeface="Calibri" pitchFamily="34" charset="-122"/>
                <a:cs typeface="Calibri" pitchFamily="34" charset="-120"/>
              </a:rPr>
              <a:t> amount and log-amount lead feature importance, consistent with fraud averaging far higher spend than legitimate transactions.</a:t>
            </a:r>
            <a:endParaRPr lang="en-US" sz="1200" dirty="0"/>
          </a:p>
          <a:p>
            <a:pPr marL="342900" indent="-342900">
              <a:lnSpc>
                <a:spcPct val="105000"/>
              </a:lnSpc>
              <a:spcAft>
                <a:spcPts val="800"/>
              </a:spcAft>
              <a:buSzPct val="100000"/>
              <a:buChar char="•"/>
            </a:pPr>
            <a:r>
              <a:rPr lang="en-US" sz="1200" b="1" dirty="0">
                <a:solidFill>
                  <a:srgbClr val="700040"/>
                </a:solidFill>
                <a:latin typeface="Calibri" pitchFamily="34" charset="0"/>
                <a:ea typeface="Calibri" pitchFamily="34" charset="-122"/>
                <a:cs typeface="Calibri" pitchFamily="34" charset="-120"/>
              </a:rPr>
              <a:t>Temporal signal confirmed: </a:t>
            </a:r>
            <a:pPr indent="0" marL="0">
              <a:lnSpc>
                <a:spcPct val="105000"/>
              </a:lnSpc>
              <a:buNone/>
            </a:pPr>
            <a:r>
              <a:rPr lang="en-US" sz="1200" dirty="0">
                <a:solidFill>
                  <a:srgbClr val="222222"/>
                </a:solidFill>
                <a:latin typeface="Calibri" pitchFamily="34" charset="0"/>
                <a:ea typeface="Calibri" pitchFamily="34" charset="-122"/>
                <a:cs typeface="Calibri" pitchFamily="34" charset="-120"/>
              </a:rPr>
              <a:t> hour and the night indicator carry real weight.</a:t>
            </a:r>
            <a:endParaRPr lang="en-US" sz="1200" dirty="0"/>
          </a:p>
          <a:p>
            <a:pPr marL="342900" indent="-342900">
              <a:lnSpc>
                <a:spcPct val="105000"/>
              </a:lnSpc>
              <a:spcAft>
                <a:spcPts val="800"/>
              </a:spcAft>
              <a:buSzPct val="100000"/>
              <a:buChar char="•"/>
            </a:pPr>
            <a:r>
              <a:rPr lang="en-US" sz="1200" b="1" dirty="0">
                <a:solidFill>
                  <a:srgbClr val="700040"/>
                </a:solidFill>
                <a:latin typeface="Calibri" pitchFamily="34" charset="0"/>
                <a:ea typeface="Calibri" pitchFamily="34" charset="-122"/>
                <a:cs typeface="Calibri" pitchFamily="34" charset="-120"/>
              </a:rPr>
              <a:t>Caveat: </a:t>
            </a:r>
            <a:pPr indent="0" marL="0">
              <a:lnSpc>
                <a:spcPct val="105000"/>
              </a:lnSpc>
              <a:buNone/>
            </a:pPr>
            <a:r>
              <a:rPr lang="en-US" sz="1200" dirty="0">
                <a:solidFill>
                  <a:srgbClr val="222222"/>
                </a:solidFill>
                <a:latin typeface="Calibri" pitchFamily="34" charset="0"/>
                <a:ea typeface="Calibri" pitchFamily="34" charset="-122"/>
                <a:cs typeface="Calibri" pitchFamily="34" charset="-120"/>
              </a:rPr>
              <a:t> impurity-based importance is a plausibility check, not a causal account.</a:t>
            </a:r>
            <a:endParaRPr lang="en-US" sz="1200" dirty="0"/>
          </a:p>
        </p:txBody>
      </p:sp>
      <p:pic>
        <p:nvPicPr>
          <p:cNvPr id="10" name="Image 0" descr="Top twelve features by importance, Random Forest on imbalanced training data (output/plots/11_rf_feature_importance.png)">    </p:cNvPr>
          <p:cNvPicPr>
            <a:picLocks noChangeAspect="1"/>
          </p:cNvPicPr>
          <p:nvPr/>
        </p:nvPicPr>
        <p:blipFill>
          <a:blip r:embed="rId1"/>
          <a:stretch>
            <a:fillRect/>
          </a:stretch>
        </p:blipFill>
        <p:spPr>
          <a:xfrm>
            <a:off x="6172200" y="1234440"/>
            <a:ext cx="5394960" cy="2953802"/>
          </a:xfrm>
          <a:prstGeom prst="rect">
            <a:avLst/>
          </a:prstGeom>
        </p:spPr>
      </p:pic>
      <p:sp>
        <p:nvSpPr>
          <p:cNvPr id="11" name="Text 8"/>
          <p:cNvSpPr txBox="1"/>
          <p:nvPr/>
        </p:nvSpPr>
        <p:spPr>
          <a:xfrm>
            <a:off x="6172200" y="4233962"/>
            <a:ext cx="5394960" cy="45720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Top twelve features by importance (Random Forest, imbalanced train)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7. Evaluation</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25 / 37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Evaluation: Ranking vs. Decision — Prior Mismatch, Not Overfitting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26 / 37</a:t>
            </a:r>
            <a:endParaRPr lang="en-US" sz="900" dirty="0"/>
          </a:p>
        </p:txBody>
      </p:sp>
      <p:pic>
        <p:nvPicPr>
          <p:cNvPr id="8" name="Image 0" descr="Train versus test performance for all four supervised models (output/plots/12_train_vs_test.png)">    </p:cNvPr>
          <p:cNvPicPr>
            <a:picLocks noChangeAspect="1"/>
          </p:cNvPicPr>
          <p:nvPr/>
        </p:nvPicPr>
        <p:blipFill>
          <a:blip r:embed="rId1"/>
          <a:stretch>
            <a:fillRect/>
          </a:stretch>
        </p:blipFill>
        <p:spPr>
          <a:xfrm>
            <a:off x="548640" y="1188720"/>
            <a:ext cx="4206240" cy="4135547"/>
          </a:xfrm>
          <a:prstGeom prst="rect">
            <a:avLst/>
          </a:prstGeom>
        </p:spPr>
      </p:pic>
      <p:sp>
        <p:nvSpPr>
          <p:cNvPr id="9" name="Text 6"/>
          <p:cNvSpPr txBox="1"/>
          <p:nvPr/>
        </p:nvSpPr>
        <p:spPr>
          <a:xfrm>
            <a:off x="548640" y="5369987"/>
            <a:ext cx="4206240" cy="36576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Train vs. test performance, all four supervised models</a:t>
            </a:r>
            <a:endParaRPr lang="en-US" sz="1050" dirty="0"/>
          </a:p>
        </p:txBody>
      </p:sp>
      <p:sp>
        <p:nvSpPr>
          <p:cNvPr id="10" name="Text 7"/>
          <p:cNvSpPr txBox="1"/>
          <p:nvPr/>
        </p:nvSpPr>
        <p:spPr>
          <a:xfrm>
            <a:off x="5029200" y="1234440"/>
            <a:ext cx="6583680" cy="5029200"/>
          </a:xfrm>
          <a:prstGeom prst="rect">
            <a:avLst/>
          </a:prstGeom>
          <a:noFill/>
          <a:ln/>
        </p:spPr>
        <p:txBody>
          <a:bodyPr wrap="square" rtlCol="0" anchor="t"/>
          <a:lstStyle/>
          <a:p>
            <a:pPr marL="342900" indent="-342900">
              <a:lnSpc>
                <a:spcPct val="105000"/>
              </a:lnSpc>
              <a:spcAft>
                <a:spcPts val="1200"/>
              </a:spcAft>
              <a:buSzPct val="100000"/>
              <a:buChar char="•"/>
            </a:pPr>
            <a:r>
              <a:rPr lang="en-US" sz="1250" b="1" dirty="0">
                <a:solidFill>
                  <a:srgbClr val="700040"/>
                </a:solidFill>
                <a:latin typeface="Calibri" pitchFamily="34" charset="0"/>
                <a:ea typeface="Calibri" pitchFamily="34" charset="-122"/>
                <a:cs typeface="Calibri" pitchFamily="34" charset="-120"/>
              </a:rPr>
              <a:t>Recall barely moves: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balanced RF goes from 0.9923 (train) to 0.9716 (test) — an overfitted model would not generalise this well.</a:t>
            </a:r>
            <a:endParaRPr lang="en-US" sz="1250" dirty="0"/>
          </a:p>
          <a:p>
            <a:pPr marL="342900" indent="-342900">
              <a:lnSpc>
                <a:spcPct val="105000"/>
              </a:lnSpc>
              <a:spcAft>
                <a:spcPts val="1200"/>
              </a:spcAft>
              <a:buSzPct val="100000"/>
              <a:buChar char="•"/>
            </a:pPr>
            <a:r>
              <a:rPr lang="en-US" sz="1250" b="1" dirty="0">
                <a:solidFill>
                  <a:srgbClr val="700040"/>
                </a:solidFill>
                <a:latin typeface="Calibri" pitchFamily="34" charset="0"/>
                <a:ea typeface="Calibri" pitchFamily="34" charset="-122"/>
                <a:cs typeface="Calibri" pitchFamily="34" charset="-120"/>
              </a:rPr>
              <a:t>Precision collapses instead: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0.9936 → 0.1506, because the false-positive rate stays the same while its denominator grows from 7,506 to 553,574 legitimate test rows.</a:t>
            </a:r>
            <a:endParaRPr lang="en-US" sz="1250" dirty="0"/>
          </a:p>
          <a:p>
            <a:pPr marL="342900" indent="-342900">
              <a:lnSpc>
                <a:spcPct val="105000"/>
              </a:lnSpc>
              <a:spcAft>
                <a:spcPts val="1200"/>
              </a:spcAft>
              <a:buSzPct val="100000"/>
              <a:buChar char="•"/>
            </a:pPr>
            <a:r>
              <a:rPr lang="en-US" sz="1250" b="1" dirty="0">
                <a:solidFill>
                  <a:srgbClr val="700040"/>
                </a:solidFill>
                <a:latin typeface="Calibri" pitchFamily="34" charset="0"/>
                <a:ea typeface="Calibri" pitchFamily="34" charset="-122"/>
                <a:cs typeface="Calibri" pitchFamily="34" charset="-120"/>
              </a:rPr>
              <a:t>ROC-AUC is nearly identical: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0.9961 vs. 0.9968 — both Random Forests rank transactions almost equally well.</a:t>
            </a:r>
            <a:endParaRPr lang="en-US" sz="1250" dirty="0"/>
          </a:p>
          <a:p>
            <a:pPr marL="342900" indent="-342900">
              <a:lnSpc>
                <a:spcPct val="105000"/>
              </a:lnSpc>
              <a:spcAft>
                <a:spcPts val="1200"/>
              </a:spcAft>
              <a:buSzPct val="100000"/>
              <a:buChar char="•"/>
            </a:pPr>
            <a:r>
              <a:rPr lang="en-US" sz="1250" b="1" dirty="0">
                <a:solidFill>
                  <a:srgbClr val="700040"/>
                </a:solidFill>
                <a:latin typeface="Calibri" pitchFamily="34" charset="0"/>
                <a:ea typeface="Calibri" pitchFamily="34" charset="-122"/>
                <a:cs typeface="Calibri" pitchFamily="34" charset="-120"/>
              </a:rPr>
              <a:t>Diagnosis: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this is class-prior mismatch, fixed by adjusting the decision threshold, not by retraining.</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Evaluation: Supervised vs. Unsupervised Detection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27 / 37</a:t>
            </a:r>
            <a:endParaRPr lang="en-US" sz="900" dirty="0"/>
          </a:p>
        </p:txBody>
      </p:sp>
      <p:pic>
        <p:nvPicPr>
          <p:cNvPr id="8" name="Image 0" descr="Key metrics, supervised classifiers versus unsupervised detectors (output/plots/14_supervised_vs_unsupervised_metrics.png)">    </p:cNvPr>
          <p:cNvPicPr>
            <a:picLocks noChangeAspect="1"/>
          </p:cNvPicPr>
          <p:nvPr/>
        </p:nvPicPr>
        <p:blipFill>
          <a:blip r:embed="rId1"/>
          <a:stretch>
            <a:fillRect/>
          </a:stretch>
        </p:blipFill>
        <p:spPr>
          <a:xfrm>
            <a:off x="548640" y="1188720"/>
            <a:ext cx="5486400" cy="2458720"/>
          </a:xfrm>
          <a:prstGeom prst="rect">
            <a:avLst/>
          </a:prstGeom>
        </p:spPr>
      </p:pic>
      <p:sp>
        <p:nvSpPr>
          <p:cNvPr id="9" name="Text 6"/>
          <p:cNvSpPr txBox="1"/>
          <p:nvPr/>
        </p:nvSpPr>
        <p:spPr>
          <a:xfrm>
            <a:off x="548640" y="3693160"/>
            <a:ext cx="5486400" cy="36576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Key metrics, supervised classifiers vs. unsupervised detectors</a:t>
            </a:r>
            <a:endParaRPr lang="en-US" sz="1050" dirty="0"/>
          </a:p>
        </p:txBody>
      </p:sp>
      <p:pic>
        <p:nvPicPr>
          <p:cNvPr id="10" name="Image 1" descr="Confusion matrices, best supervised versus best unsupervised model (output/plots/16_supervised_vs_unsupervised_confusion.png)">    </p:cNvPr>
          <p:cNvPicPr>
            <a:picLocks noChangeAspect="1"/>
          </p:cNvPicPr>
          <p:nvPr/>
        </p:nvPicPr>
        <p:blipFill>
          <a:blip r:embed="rId2"/>
          <a:stretch>
            <a:fillRect/>
          </a:stretch>
        </p:blipFill>
        <p:spPr>
          <a:xfrm>
            <a:off x="6172200" y="1188720"/>
            <a:ext cx="5486400" cy="2165239"/>
          </a:xfrm>
          <a:prstGeom prst="rect">
            <a:avLst/>
          </a:prstGeom>
        </p:spPr>
      </p:pic>
      <p:sp>
        <p:nvSpPr>
          <p:cNvPr id="11" name="Text 7"/>
          <p:cNvSpPr txBox="1"/>
          <p:nvPr/>
        </p:nvSpPr>
        <p:spPr>
          <a:xfrm>
            <a:off x="6172200" y="3399679"/>
            <a:ext cx="5486400" cy="365760"/>
          </a:xfrm>
          <a:prstGeom prst="rect">
            <a:avLst/>
          </a:prstGeom>
          <a:noFill/>
          <a:ln/>
        </p:spPr>
        <p:txBody>
          <a:bodyPr wrap="square"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Confusion matrices, best supervised vs. best unsupervised model</a:t>
            </a:r>
            <a:endParaRPr lang="en-US" sz="1050" dirty="0"/>
          </a:p>
        </p:txBody>
      </p:sp>
      <p:sp>
        <p:nvSpPr>
          <p:cNvPr id="12" name="Text 8"/>
          <p:cNvSpPr txBox="1"/>
          <p:nvPr/>
        </p:nvSpPr>
        <p:spPr>
          <a:xfrm>
            <a:off x="548640" y="5029200"/>
            <a:ext cx="3657600" cy="548640"/>
          </a:xfrm>
          <a:prstGeom prst="rect">
            <a:avLst/>
          </a:prstGeom>
          <a:noFill/>
          <a:ln/>
        </p:spPr>
        <p:txBody>
          <a:bodyPr wrap="square" rtlCol="0" anchor="b"/>
          <a:lstStyle/>
          <a:p>
            <a:pPr algn="ctr" indent="0" marL="0">
              <a:buNone/>
            </a:pPr>
            <a:r>
              <a:rPr lang="en-US" sz="3000" b="1" dirty="0">
                <a:solidFill>
                  <a:srgbClr val="9E0059"/>
                </a:solidFill>
                <a:latin typeface="Calibri" pitchFamily="34" charset="0"/>
                <a:ea typeface="Calibri" pitchFamily="34" charset="-122"/>
                <a:cs typeface="Calibri" pitchFamily="34" charset="-120"/>
              </a:rPr>
              <a:t>7.6×</a:t>
            </a:r>
            <a:endParaRPr lang="en-US" sz="3000" dirty="0"/>
          </a:p>
        </p:txBody>
      </p:sp>
      <p:sp>
        <p:nvSpPr>
          <p:cNvPr id="13" name="Text 9"/>
          <p:cNvSpPr txBox="1"/>
          <p:nvPr/>
        </p:nvSpPr>
        <p:spPr>
          <a:xfrm>
            <a:off x="548640" y="5577840"/>
            <a:ext cx="3657600" cy="365760"/>
          </a:xfrm>
          <a:prstGeom prst="rect">
            <a:avLst/>
          </a:prstGeom>
          <a:noFill/>
          <a:ln/>
        </p:spPr>
        <p:txBody>
          <a:bodyPr wrap="square" rtlCol="0" anchor="t"/>
          <a:lstStyle/>
          <a:p>
            <a:pPr algn="ctr" indent="0" marL="0">
              <a:buNone/>
            </a:pPr>
            <a:r>
              <a:rPr lang="en-US" sz="1050" dirty="0">
                <a:solidFill>
                  <a:srgbClr val="595959"/>
                </a:solidFill>
                <a:latin typeface="Calibri" pitchFamily="34" charset="0"/>
                <a:ea typeface="Calibri" pitchFamily="34" charset="-122"/>
                <a:cs typeface="Calibri" pitchFamily="34" charset="-120"/>
              </a:rPr>
              <a:t>higher PR-AUC for supervised Random Forest (0.8819) vs. best unsupervised detector, LOF (0.1159)</a:t>
            </a:r>
            <a:endParaRPr lang="en-US" sz="1050" dirty="0"/>
          </a:p>
        </p:txBody>
      </p:sp>
      <p:sp>
        <p:nvSpPr>
          <p:cNvPr id="14" name="Text 10"/>
          <p:cNvSpPr txBox="1"/>
          <p:nvPr/>
        </p:nvSpPr>
        <p:spPr>
          <a:xfrm>
            <a:off x="4343400" y="5029200"/>
            <a:ext cx="3657600" cy="548640"/>
          </a:xfrm>
          <a:prstGeom prst="rect">
            <a:avLst/>
          </a:prstGeom>
          <a:noFill/>
          <a:ln/>
        </p:spPr>
        <p:txBody>
          <a:bodyPr wrap="square" rtlCol="0" anchor="b"/>
          <a:lstStyle/>
          <a:p>
            <a:pPr algn="ctr" indent="0" marL="0">
              <a:buNone/>
            </a:pPr>
            <a:r>
              <a:rPr lang="en-US" sz="3000" b="1" dirty="0">
                <a:solidFill>
                  <a:srgbClr val="9E0059"/>
                </a:solidFill>
                <a:latin typeface="Calibri" pitchFamily="34" charset="0"/>
                <a:ea typeface="Calibri" pitchFamily="34" charset="-122"/>
                <a:cs typeface="Calibri" pitchFamily="34" charset="-120"/>
              </a:rPr>
              <a:t>1,610 / 1,708</a:t>
            </a:r>
            <a:endParaRPr lang="en-US" sz="3000" dirty="0"/>
          </a:p>
        </p:txBody>
      </p:sp>
      <p:sp>
        <p:nvSpPr>
          <p:cNvPr id="15" name="Text 11"/>
          <p:cNvSpPr txBox="1"/>
          <p:nvPr/>
        </p:nvSpPr>
        <p:spPr>
          <a:xfrm>
            <a:off x="4343400" y="5577840"/>
            <a:ext cx="3657600" cy="365760"/>
          </a:xfrm>
          <a:prstGeom prst="rect">
            <a:avLst/>
          </a:prstGeom>
          <a:noFill/>
          <a:ln/>
        </p:spPr>
        <p:txBody>
          <a:bodyPr wrap="square" rtlCol="0" anchor="t"/>
          <a:lstStyle/>
          <a:p>
            <a:pPr algn="ctr" indent="0" marL="0">
              <a:buNone/>
            </a:pPr>
            <a:r>
              <a:rPr lang="en-US" sz="1050" dirty="0">
                <a:solidFill>
                  <a:srgbClr val="595959"/>
                </a:solidFill>
                <a:latin typeface="Calibri" pitchFamily="34" charset="0"/>
                <a:ea typeface="Calibri" pitchFamily="34" charset="-122"/>
                <a:cs typeface="Calibri" pitchFamily="34" charset="-120"/>
              </a:rPr>
              <a:t>vs. 543 / 3,381 for LOF — RF catches about 3× the fraud from roughly half the alerts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Evaluation: Validation Route, Strengths &amp; Limitations III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28 / 37</a:t>
            </a:r>
            <a:endParaRPr lang="en-US" sz="900" dirty="0"/>
          </a:p>
        </p:txBody>
      </p:sp>
      <p:sp>
        <p:nvSpPr>
          <p:cNvPr id="8" name="Shape 6"/>
          <p:cNvSpPr/>
          <p:nvPr/>
        </p:nvSpPr>
        <p:spPr>
          <a:xfrm>
            <a:off x="548640" y="1188720"/>
            <a:ext cx="5349240" cy="310896"/>
          </a:xfrm>
          <a:prstGeom prst="rect">
            <a:avLst/>
          </a:prstGeom>
          <a:solidFill>
            <a:srgbClr val="700040"/>
          </a:solidFill>
          <a:ln/>
        </p:spPr>
      </p:sp>
      <p:sp>
        <p:nvSpPr>
          <p:cNvPr id="9" name="Text 7"/>
          <p:cNvSpPr txBox="1"/>
          <p:nvPr/>
        </p:nvSpPr>
        <p:spPr>
          <a:xfrm>
            <a:off x="548640" y="118872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Applied Route</a:t>
            </a:r>
            <a:endParaRPr lang="en-US" sz="1300" dirty="0"/>
          </a:p>
        </p:txBody>
      </p:sp>
      <p:sp>
        <p:nvSpPr>
          <p:cNvPr id="10" name="Shape 8"/>
          <p:cNvSpPr/>
          <p:nvPr/>
        </p:nvSpPr>
        <p:spPr>
          <a:xfrm>
            <a:off x="548640" y="1499616"/>
            <a:ext cx="5349240" cy="1243584"/>
          </a:xfrm>
          <a:prstGeom prst="rect">
            <a:avLst/>
          </a:prstGeom>
          <a:solidFill>
            <a:srgbClr val="F7EAF1"/>
          </a:solidFill>
          <a:ln/>
        </p:spPr>
      </p:sp>
      <p:sp>
        <p:nvSpPr>
          <p:cNvPr id="11" name="Text 9"/>
          <p:cNvSpPr txBox="1"/>
          <p:nvPr/>
        </p:nvSpPr>
        <p:spPr>
          <a:xfrm>
            <a:off x="685800" y="1591056"/>
            <a:ext cx="5074920" cy="1060704"/>
          </a:xfrm>
          <a:prstGeom prst="rect">
            <a:avLst/>
          </a:prstGeom>
          <a:noFill/>
          <a:ln/>
        </p:spPr>
        <p:txBody>
          <a:bodyPr wrap="square" rtlCol="0" anchor="t"/>
          <a:lstStyle/>
          <a:p>
            <a:pPr indent="0" marL="0">
              <a:lnSpc>
                <a:spcPct val="108000"/>
              </a:lnSpc>
              <a:buNone/>
            </a:pPr>
            <a:r>
              <a:rPr lang="en-US" sz="1150" dirty="0">
                <a:solidFill>
                  <a:srgbClr val="222222"/>
                </a:solidFill>
                <a:latin typeface="Calibri" pitchFamily="34" charset="0"/>
                <a:ea typeface="Calibri" pitchFamily="34" charset="-122"/>
                <a:cs typeface="Calibri" pitchFamily="34" charset="-120"/>
              </a:rPr>
              <a:t>Not applicable — this project has no human participants or end users (UREC1), so no user acceptance testing or participant feedback was collected.</a:t>
            </a:r>
            <a:endParaRPr lang="en-US" sz="1250" dirty="0"/>
          </a:p>
        </p:txBody>
      </p:sp>
      <p:sp>
        <p:nvSpPr>
          <p:cNvPr id="12" name="Shape 10"/>
          <p:cNvSpPr/>
          <p:nvPr/>
        </p:nvSpPr>
        <p:spPr>
          <a:xfrm>
            <a:off x="6080760" y="1188720"/>
            <a:ext cx="5532120" cy="310896"/>
          </a:xfrm>
          <a:prstGeom prst="rect">
            <a:avLst/>
          </a:prstGeom>
          <a:solidFill>
            <a:srgbClr val="700040"/>
          </a:solidFill>
          <a:ln/>
        </p:spPr>
      </p:sp>
      <p:sp>
        <p:nvSpPr>
          <p:cNvPr id="13" name="Text 11"/>
          <p:cNvSpPr txBox="1"/>
          <p:nvPr/>
        </p:nvSpPr>
        <p:spPr>
          <a:xfrm>
            <a:off x="6080760" y="1188720"/>
            <a:ext cx="553212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Systematic Route</a:t>
            </a:r>
            <a:endParaRPr lang="en-US" sz="1300" dirty="0"/>
          </a:p>
        </p:txBody>
      </p:sp>
      <p:sp>
        <p:nvSpPr>
          <p:cNvPr id="14" name="Shape 12"/>
          <p:cNvSpPr/>
          <p:nvPr/>
        </p:nvSpPr>
        <p:spPr>
          <a:xfrm>
            <a:off x="6080760" y="1499616"/>
            <a:ext cx="5532120" cy="1243584"/>
          </a:xfrm>
          <a:prstGeom prst="rect">
            <a:avLst/>
          </a:prstGeom>
          <a:solidFill>
            <a:srgbClr val="F7EAF1"/>
          </a:solidFill>
          <a:ln/>
        </p:spPr>
      </p:sp>
      <p:sp>
        <p:nvSpPr>
          <p:cNvPr id="15" name="Text 13"/>
          <p:cNvSpPr txBox="1"/>
          <p:nvPr/>
        </p:nvSpPr>
        <p:spPr>
          <a:xfrm>
            <a:off x="6217920" y="1591056"/>
            <a:ext cx="5257800" cy="1060704"/>
          </a:xfrm>
          <a:prstGeom prst="rect">
            <a:avLst/>
          </a:prstGeom>
          <a:noFill/>
          <a:ln/>
        </p:spPr>
        <p:txBody>
          <a:bodyPr wrap="square" rtlCol="0" anchor="t"/>
          <a:lstStyle/>
          <a:p>
            <a:pPr indent="0" marL="0">
              <a:lnSpc>
                <a:spcPct val="108000"/>
              </a:lnSpc>
              <a:buNone/>
            </a:pPr>
            <a:r>
              <a:rPr lang="en-US" sz="1150" dirty="0">
                <a:solidFill>
                  <a:srgbClr val="222222"/>
                </a:solidFill>
                <a:latin typeface="Calibri" pitchFamily="34" charset="0"/>
                <a:ea typeface="Calibri" pitchFamily="34" charset="-122"/>
                <a:cs typeface="Calibri" pitchFamily="34" charset="-120"/>
              </a:rPr>
              <a:t>Supervisor critique through review meetings, reflective self-evaluation against the six-metric suite, and cross-checking every reported number against the notebook outputs before writing.</a:t>
            </a:r>
            <a:endParaRPr lang="en-US" sz="1250" dirty="0"/>
          </a:p>
        </p:txBody>
      </p:sp>
      <p:sp>
        <p:nvSpPr>
          <p:cNvPr id="16" name="Text 14"/>
          <p:cNvSpPr txBox="1"/>
          <p:nvPr/>
        </p:nvSpPr>
        <p:spPr>
          <a:xfrm>
            <a:off x="548640" y="2971800"/>
            <a:ext cx="11064240" cy="3291840"/>
          </a:xfrm>
          <a:prstGeom prst="rect">
            <a:avLst/>
          </a:prstGeom>
          <a:noFill/>
          <a:ln/>
        </p:spPr>
        <p:txBody>
          <a:bodyPr wrap="square" rtlCol="0" anchor="t"/>
          <a:lstStyle/>
          <a:p>
            <a:pPr marL="342900" indent="-342900">
              <a:lnSpc>
                <a:spcPct val="105000"/>
              </a:lnSpc>
              <a:spcAft>
                <a:spcPts val="1000"/>
              </a:spcAft>
              <a:buSzPct val="100000"/>
              <a:buChar char="•"/>
            </a:pPr>
            <a:r>
              <a:rPr lang="en-US" sz="1250" b="1" dirty="0">
                <a:solidFill>
                  <a:srgbClr val="700040"/>
                </a:solidFill>
                <a:latin typeface="Calibri" pitchFamily="34" charset="0"/>
                <a:ea typeface="Calibri" pitchFamily="34" charset="-122"/>
                <a:cs typeface="Calibri" pitchFamily="34" charset="-120"/>
              </a:rPr>
              <a:t>Strengths: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a controlled, realistic answer to an unsettled question; a working diagnostic for prior mismatch versus overfitting.</a:t>
            </a:r>
            <a:endParaRPr lang="en-US" sz="1250" dirty="0"/>
          </a:p>
          <a:p>
            <a:pPr marL="342900" indent="-342900">
              <a:lnSpc>
                <a:spcPct val="105000"/>
              </a:lnSpc>
              <a:spcAft>
                <a:spcPts val="1000"/>
              </a:spcAft>
              <a:buSzPct val="100000"/>
              <a:buChar char="•"/>
            </a:pPr>
            <a:r>
              <a:rPr lang="en-US" sz="1250" b="1" dirty="0">
                <a:solidFill>
                  <a:srgbClr val="700040"/>
                </a:solidFill>
                <a:latin typeface="Calibri" pitchFamily="34" charset="0"/>
                <a:ea typeface="Calibri" pitchFamily="34" charset="-122"/>
                <a:cs typeface="Calibri" pitchFamily="34" charset="-120"/>
              </a:rPr>
              <a:t>Weaknesses &amp; limitations: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synthetic dataset (figures are an upper bound); only one balancing ratio tested; no formal threshold sweep; two unsupervised detectors subsampled to 40,000 records; a single train/test split, so no confidence interval.</a:t>
            </a:r>
            <a:endParaRPr lang="en-US" sz="1250" dirty="0"/>
          </a:p>
          <a:p>
            <a:pPr marL="342900" indent="-342900">
              <a:lnSpc>
                <a:spcPct val="105000"/>
              </a:lnSpc>
              <a:spcAft>
                <a:spcPts val="1000"/>
              </a:spcAft>
              <a:buSzPct val="100000"/>
              <a:buChar char="•"/>
            </a:pPr>
            <a:r>
              <a:rPr lang="en-US" sz="1250" b="1" dirty="0">
                <a:solidFill>
                  <a:srgbClr val="700040"/>
                </a:solidFill>
                <a:latin typeface="Calibri" pitchFamily="34" charset="0"/>
                <a:ea typeface="Calibri" pitchFamily="34" charset="-122"/>
                <a:cs typeface="Calibri" pitchFamily="34" charset="-120"/>
              </a:rPr>
              <a:t>Feedback application: </a:t>
            </a:r>
            <a:pPr indent="0" marL="0">
              <a:lnSpc>
                <a:spcPct val="105000"/>
              </a:lnSpc>
              <a:buNone/>
            </a:pPr>
            <a:r>
              <a:rPr lang="en-US" sz="1250" dirty="0">
                <a:solidFill>
                  <a:srgbClr val="222222"/>
                </a:solidFill>
                <a:latin typeface="Calibri" pitchFamily="34" charset="0"/>
                <a:ea typeface="Calibri" pitchFamily="34" charset="-122"/>
                <a:cs typeface="Calibri" pitchFamily="34" charset="-120"/>
              </a:rPr>
              <a:t> supervisor feedback on the initial, incorrect “overfitting” reading of the balanced model directly led to the train-versus-test diagnostic that is now this project's central contribution.</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8. Conclusion</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29 / 37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Resolution of Gaps and Objectives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30 / 37</a:t>
            </a:r>
            <a:endParaRPr lang="en-US" sz="900" dirty="0"/>
          </a:p>
        </p:txBody>
      </p:sp>
      <p:sp>
        <p:nvSpPr>
          <p:cNvPr id="8" name="Text 6"/>
          <p:cNvSpPr txBox="1"/>
          <p:nvPr/>
        </p:nvSpPr>
        <p:spPr>
          <a:xfrm>
            <a:off x="548640" y="1234440"/>
            <a:ext cx="11064240" cy="2286000"/>
          </a:xfrm>
          <a:prstGeom prst="rect">
            <a:avLst/>
          </a:prstGeom>
          <a:noFill/>
          <a:ln/>
        </p:spPr>
        <p:txBody>
          <a:bodyPr wrap="square" rtlCol="0" anchor="t"/>
          <a:lstStyle/>
          <a:p>
            <a:pPr marL="342900" indent="-342900">
              <a:lnSpc>
                <a:spcPct val="105000"/>
              </a:lnSpc>
              <a:spcAft>
                <a:spcPts val="1000"/>
              </a:spcAft>
              <a:buSzPct val="100000"/>
              <a:buChar char="•"/>
            </a:pPr>
            <a:r>
              <a:rPr lang="en-US" sz="1350" b="1" dirty="0">
                <a:solidFill>
                  <a:srgbClr val="700040"/>
                </a:solidFill>
                <a:latin typeface="Calibri" pitchFamily="34" charset="0"/>
                <a:ea typeface="Calibri" pitchFamily="34" charset="-122"/>
                <a:cs typeface="Calibri" pitchFamily="34" charset="-120"/>
              </a:rPr>
              <a:t>Addressing literature gaps: </a:t>
            </a:r>
            <a:pPr indent="0" marL="0">
              <a:lnSpc>
                <a:spcPct val="105000"/>
              </a:lnSpc>
              <a:buNone/>
            </a:pPr>
            <a:r>
              <a:rPr lang="en-US" sz="1350" dirty="0">
                <a:solidFill>
                  <a:srgbClr val="222222"/>
                </a:solidFill>
                <a:latin typeface="Calibri" pitchFamily="34" charset="0"/>
                <a:ea typeface="Calibri" pitchFamily="34" charset="-122"/>
                <a:cs typeface="Calibri" pitchFamily="34" charset="-120"/>
              </a:rPr>
              <a:t> the controlled design keeps the test set untouched (Gap 1), the train-vs-test diagnostic separates prior mismatch from overfitting (Gap 2), operational costs are reported alongside statistical metrics (Gap 3), supervised and unsupervised methods are compared on the same test set (Gap 4), Logistic Regression is reported as a simple baseline (Gap 5), and every feature engineering decision — including a zero-leakage check — is documented (Gap 6).</a:t>
            </a:r>
            <a:endParaRPr lang="en-US" sz="1350" dirty="0"/>
          </a:p>
        </p:txBody>
      </p:sp>
      <p:sp>
        <p:nvSpPr>
          <p:cNvPr id="9" name="Shape 7"/>
          <p:cNvSpPr/>
          <p:nvPr/>
        </p:nvSpPr>
        <p:spPr>
          <a:xfrm>
            <a:off x="548640" y="3703320"/>
            <a:ext cx="11064240" cy="310896"/>
          </a:xfrm>
          <a:prstGeom prst="rect">
            <a:avLst/>
          </a:prstGeom>
          <a:solidFill>
            <a:srgbClr val="700040"/>
          </a:solidFill>
          <a:ln/>
        </p:spPr>
      </p:sp>
      <p:sp>
        <p:nvSpPr>
          <p:cNvPr id="10" name="Text 8"/>
          <p:cNvSpPr txBox="1"/>
          <p:nvPr/>
        </p:nvSpPr>
        <p:spPr>
          <a:xfrm>
            <a:off x="548640" y="370332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Objective Completion Mapping — 6 / 6 Met</a:t>
            </a:r>
            <a:endParaRPr lang="en-US" sz="1300" dirty="0"/>
          </a:p>
        </p:txBody>
      </p:sp>
      <p:sp>
        <p:nvSpPr>
          <p:cNvPr id="11" name="Shape 9"/>
          <p:cNvSpPr/>
          <p:nvPr/>
        </p:nvSpPr>
        <p:spPr>
          <a:xfrm>
            <a:off x="548640" y="4160520"/>
            <a:ext cx="274320" cy="274320"/>
          </a:xfrm>
          <a:prstGeom prst="ellipse">
            <a:avLst/>
          </a:prstGeom>
          <a:solidFill>
            <a:srgbClr val="1E7A34"/>
          </a:solidFill>
          <a:ln/>
        </p:spPr>
      </p:sp>
      <p:sp>
        <p:nvSpPr>
          <p:cNvPr id="12" name="Text 10"/>
          <p:cNvSpPr txBox="1"/>
          <p:nvPr/>
        </p:nvSpPr>
        <p:spPr>
          <a:xfrm>
            <a:off x="548640" y="416052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914400" y="408736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Literature reviewed</a:t>
            </a:r>
            <a:endParaRPr lang="en-US" sz="1150" dirty="0"/>
          </a:p>
        </p:txBody>
      </p:sp>
      <p:sp>
        <p:nvSpPr>
          <p:cNvPr id="14" name="Shape 12"/>
          <p:cNvSpPr/>
          <p:nvPr/>
        </p:nvSpPr>
        <p:spPr>
          <a:xfrm>
            <a:off x="4297680" y="4160520"/>
            <a:ext cx="274320" cy="274320"/>
          </a:xfrm>
          <a:prstGeom prst="ellipse">
            <a:avLst/>
          </a:prstGeom>
          <a:solidFill>
            <a:srgbClr val="1E7A34"/>
          </a:solidFill>
          <a:ln/>
        </p:spPr>
      </p:sp>
      <p:sp>
        <p:nvSpPr>
          <p:cNvPr id="15" name="Text 13"/>
          <p:cNvSpPr txBox="1"/>
          <p:nvPr/>
        </p:nvSpPr>
        <p:spPr>
          <a:xfrm>
            <a:off x="4297680" y="416052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4663440" y="408736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Leakage-checked pipeline built</a:t>
            </a:r>
            <a:endParaRPr lang="en-US" sz="1150" dirty="0"/>
          </a:p>
        </p:txBody>
      </p:sp>
      <p:sp>
        <p:nvSpPr>
          <p:cNvPr id="17" name="Shape 15"/>
          <p:cNvSpPr/>
          <p:nvPr/>
        </p:nvSpPr>
        <p:spPr>
          <a:xfrm>
            <a:off x="8046720" y="4160520"/>
            <a:ext cx="274320" cy="274320"/>
          </a:xfrm>
          <a:prstGeom prst="ellipse">
            <a:avLst/>
          </a:prstGeom>
          <a:solidFill>
            <a:srgbClr val="1E7A34"/>
          </a:solidFill>
          <a:ln/>
        </p:spPr>
      </p:sp>
      <p:sp>
        <p:nvSpPr>
          <p:cNvPr id="18" name="Text 16"/>
          <p:cNvSpPr txBox="1"/>
          <p:nvPr/>
        </p:nvSpPr>
        <p:spPr>
          <a:xfrm>
            <a:off x="8046720" y="416052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8412480" y="408736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Both regimes trained</a:t>
            </a:r>
            <a:endParaRPr lang="en-US" sz="1150" dirty="0"/>
          </a:p>
        </p:txBody>
      </p:sp>
      <p:sp>
        <p:nvSpPr>
          <p:cNvPr id="20" name="Shape 18"/>
          <p:cNvSpPr/>
          <p:nvPr/>
        </p:nvSpPr>
        <p:spPr>
          <a:xfrm>
            <a:off x="548640" y="4937760"/>
            <a:ext cx="274320" cy="274320"/>
          </a:xfrm>
          <a:prstGeom prst="ellipse">
            <a:avLst/>
          </a:prstGeom>
          <a:solidFill>
            <a:srgbClr val="1E7A34"/>
          </a:solidFill>
          <a:ln/>
        </p:spPr>
      </p:sp>
      <p:sp>
        <p:nvSpPr>
          <p:cNvPr id="21" name="Text 19"/>
          <p:cNvSpPr txBox="1"/>
          <p:nvPr/>
        </p:nvSpPr>
        <p:spPr>
          <a:xfrm>
            <a:off x="548640" y="493776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914400" y="486460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All models evaluated</a:t>
            </a:r>
            <a:endParaRPr lang="en-US" sz="1150" dirty="0"/>
          </a:p>
        </p:txBody>
      </p:sp>
      <p:sp>
        <p:nvSpPr>
          <p:cNvPr id="23" name="Shape 21"/>
          <p:cNvSpPr/>
          <p:nvPr/>
        </p:nvSpPr>
        <p:spPr>
          <a:xfrm>
            <a:off x="4297680" y="4937760"/>
            <a:ext cx="274320" cy="274320"/>
          </a:xfrm>
          <a:prstGeom prst="ellipse">
            <a:avLst/>
          </a:prstGeom>
          <a:solidFill>
            <a:srgbClr val="1E7A34"/>
          </a:solidFill>
          <a:ln/>
        </p:spPr>
      </p:sp>
      <p:sp>
        <p:nvSpPr>
          <p:cNvPr id="24" name="Text 22"/>
          <p:cNvSpPr txBox="1"/>
          <p:nvPr/>
        </p:nvSpPr>
        <p:spPr>
          <a:xfrm>
            <a:off x="4297680" y="493776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4663440" y="486460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Prior mismatch diagnosed</a:t>
            </a:r>
            <a:endParaRPr lang="en-US" sz="1150" dirty="0"/>
          </a:p>
        </p:txBody>
      </p:sp>
      <p:sp>
        <p:nvSpPr>
          <p:cNvPr id="26" name="Shape 24"/>
          <p:cNvSpPr/>
          <p:nvPr/>
        </p:nvSpPr>
        <p:spPr>
          <a:xfrm>
            <a:off x="8046720" y="4937760"/>
            <a:ext cx="274320" cy="274320"/>
          </a:xfrm>
          <a:prstGeom prst="ellipse">
            <a:avLst/>
          </a:prstGeom>
          <a:solidFill>
            <a:srgbClr val="1E7A34"/>
          </a:solidFill>
          <a:ln/>
        </p:spPr>
      </p:sp>
      <p:sp>
        <p:nvSpPr>
          <p:cNvPr id="27" name="Text 25"/>
          <p:cNvSpPr txBox="1"/>
          <p:nvPr/>
        </p:nvSpPr>
        <p:spPr>
          <a:xfrm>
            <a:off x="8046720" y="4937760"/>
            <a:ext cx="274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8412480" y="4864608"/>
            <a:ext cx="3291840" cy="548640"/>
          </a:xfrm>
          <a:prstGeom prst="rect">
            <a:avLst/>
          </a:prstGeom>
          <a:noFill/>
          <a:ln/>
        </p:spPr>
        <p:txBody>
          <a:bodyPr wrap="square" rtlCol="0" anchor="t"/>
          <a:lstStyle/>
          <a:p>
            <a:pPr indent="0" marL="0">
              <a:buNone/>
            </a:pPr>
            <a:r>
              <a:rPr lang="en-US" sz="1150" dirty="0">
                <a:solidFill>
                  <a:srgbClr val="222222"/>
                </a:solidFill>
                <a:latin typeface="Calibri" pitchFamily="34" charset="0"/>
                <a:ea typeface="Calibri" pitchFamily="34" charset="-122"/>
                <a:cs typeface="Calibri" pitchFamily="34" charset="-120"/>
              </a:rPr>
              <a:t>Unsupervised benchmark done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Answering the Research Questions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31 / 37</a:t>
            </a:r>
            <a:endParaRPr lang="en-US" sz="900" dirty="0"/>
          </a:p>
        </p:txBody>
      </p:sp>
      <p:sp>
        <p:nvSpPr>
          <p:cNvPr id="8" name="Text 6"/>
          <p:cNvSpPr txBox="1"/>
          <p:nvPr/>
        </p:nvSpPr>
        <p:spPr>
          <a:xfrm>
            <a:off x="548640" y="1234440"/>
            <a:ext cx="11064240" cy="2103120"/>
          </a:xfrm>
          <a:prstGeom prst="rect">
            <a:avLst/>
          </a:prstGeom>
          <a:noFill/>
          <a:ln/>
        </p:spPr>
        <p:txBody>
          <a:bodyPr wrap="square" rtlCol="0" anchor="t"/>
          <a:lstStyle/>
          <a:p>
            <a:pPr marL="342900" indent="-342900">
              <a:lnSpc>
                <a:spcPct val="105000"/>
              </a:lnSpc>
              <a:spcAft>
                <a:spcPts val="1000"/>
              </a:spcAft>
              <a:buSzPct val="100000"/>
              <a:buChar char="•"/>
            </a:pPr>
            <a:r>
              <a:rPr lang="en-US" sz="1300" b="1" dirty="0">
                <a:solidFill>
                  <a:srgbClr val="700040"/>
                </a:solidFill>
                <a:latin typeface="Calibri" pitchFamily="34" charset="0"/>
                <a:ea typeface="Calibri" pitchFamily="34" charset="-122"/>
                <a:cs typeface="Calibri" pitchFamily="34" charset="-120"/>
              </a:rPr>
              <a:t>RQ1: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balancing is not necessary, and helps only under a narrow, quantifiable condition. Imbalanced RF wins on precision (0.9426), F1 (0.8357) and PR-AUC (0.8819); balancing trades precision for recall at a cost of 25.6 extra reviews per extra fraud caught. The balanced model's failure is prior mismatch, fixed by threshold adjustment, not retraining.</a:t>
            </a:r>
            <a:endParaRPr lang="en-US" sz="1300" dirty="0"/>
          </a:p>
          <a:p>
            <a:pPr marL="342900" indent="-342900">
              <a:lnSpc>
                <a:spcPct val="105000"/>
              </a:lnSpc>
              <a:spcAft>
                <a:spcPts val="1000"/>
              </a:spcAft>
              <a:buSzPct val="100000"/>
              <a:buChar char="•"/>
            </a:pPr>
            <a:r>
              <a:rPr lang="en-US" sz="1300" b="1" dirty="0">
                <a:solidFill>
                  <a:srgbClr val="700040"/>
                </a:solidFill>
                <a:latin typeface="Calibri" pitchFamily="34" charset="0"/>
                <a:ea typeface="Calibri" pitchFamily="34" charset="-122"/>
                <a:cs typeface="Calibri" pitchFamily="34" charset="-120"/>
              </a:rPr>
              <a:t>RQ2: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where labels exist, supervised classification is clearly better — 7.6× higher PR-AUC than the best unsupervised detector.</a:t>
            </a:r>
            <a:endParaRPr lang="en-US" sz="1300" dirty="0"/>
          </a:p>
        </p:txBody>
      </p:sp>
      <p:sp>
        <p:nvSpPr>
          <p:cNvPr id="9" name="Shape 7"/>
          <p:cNvSpPr/>
          <p:nvPr/>
        </p:nvSpPr>
        <p:spPr>
          <a:xfrm>
            <a:off x="548640" y="3520440"/>
            <a:ext cx="5349240" cy="310896"/>
          </a:xfrm>
          <a:prstGeom prst="rect">
            <a:avLst/>
          </a:prstGeom>
          <a:solidFill>
            <a:srgbClr val="700040"/>
          </a:solidFill>
          <a:ln/>
        </p:spPr>
      </p:sp>
      <p:sp>
        <p:nvSpPr>
          <p:cNvPr id="10" name="Text 8"/>
          <p:cNvSpPr txBox="1"/>
          <p:nvPr/>
        </p:nvSpPr>
        <p:spPr>
          <a:xfrm>
            <a:off x="548640" y="3520440"/>
            <a:ext cx="5349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p>
        </p:txBody>
      </p:sp>
      <p:sp>
        <p:nvSpPr>
          <p:cNvPr id="11" name="Shape 9"/>
          <p:cNvSpPr/>
          <p:nvPr/>
        </p:nvSpPr>
        <p:spPr>
          <a:xfrm>
            <a:off x="548640" y="3831336"/>
            <a:ext cx="5349240" cy="2340864"/>
          </a:xfrm>
          <a:prstGeom prst="rect">
            <a:avLst/>
          </a:prstGeom>
          <a:solidFill>
            <a:srgbClr val="F7EAF1"/>
          </a:solidFill>
          <a:ln/>
        </p:spPr>
      </p:sp>
      <p:sp>
        <p:nvSpPr>
          <p:cNvPr id="12" name="Text 10"/>
          <p:cNvSpPr txBox="1"/>
          <p:nvPr/>
        </p:nvSpPr>
        <p:spPr>
          <a:xfrm>
            <a:off x="685800" y="3922776"/>
            <a:ext cx="5074920" cy="2157984"/>
          </a:xfrm>
          <a:prstGeom prst="rect">
            <a:avLst/>
          </a:prstGeom>
          <a:noFill/>
          <a:ln/>
        </p:spPr>
        <p:txBody>
          <a:bodyPr wrap="square" rtlCol="0" anchor="t"/>
          <a:lstStyle/>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Synthetic corpus — figures are an upper bound, not a deployment guarantee.</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Only one balancing ratio tested.</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No formal threshold sweep performed.</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Single temporal split — no confidence intervals.</a:t>
            </a:r>
            <a:endParaRPr lang="en-US" sz="1250" dirty="0"/>
          </a:p>
        </p:txBody>
      </p:sp>
      <p:sp>
        <p:nvSpPr>
          <p:cNvPr id="13" name="Shape 11"/>
          <p:cNvSpPr/>
          <p:nvPr/>
        </p:nvSpPr>
        <p:spPr>
          <a:xfrm>
            <a:off x="6080760" y="3520440"/>
            <a:ext cx="5532120" cy="310896"/>
          </a:xfrm>
          <a:prstGeom prst="rect">
            <a:avLst/>
          </a:prstGeom>
          <a:solidFill>
            <a:srgbClr val="700040"/>
          </a:solidFill>
          <a:ln/>
        </p:spPr>
      </p:sp>
      <p:sp>
        <p:nvSpPr>
          <p:cNvPr id="14" name="Text 12"/>
          <p:cNvSpPr txBox="1"/>
          <p:nvPr/>
        </p:nvSpPr>
        <p:spPr>
          <a:xfrm>
            <a:off x="6080760" y="3520440"/>
            <a:ext cx="553212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Future Work</a:t>
            </a:r>
            <a:endParaRPr lang="en-US" sz="1300" dirty="0"/>
          </a:p>
        </p:txBody>
      </p:sp>
      <p:sp>
        <p:nvSpPr>
          <p:cNvPr id="15" name="Shape 13"/>
          <p:cNvSpPr/>
          <p:nvPr/>
        </p:nvSpPr>
        <p:spPr>
          <a:xfrm>
            <a:off x="6080760" y="3831336"/>
            <a:ext cx="5532120" cy="2340864"/>
          </a:xfrm>
          <a:prstGeom prst="rect">
            <a:avLst/>
          </a:prstGeom>
          <a:solidFill>
            <a:srgbClr val="F7EAF1"/>
          </a:solidFill>
          <a:ln/>
        </p:spPr>
      </p:sp>
      <p:sp>
        <p:nvSpPr>
          <p:cNvPr id="16" name="Text 14"/>
          <p:cNvSpPr txBox="1"/>
          <p:nvPr/>
        </p:nvSpPr>
        <p:spPr>
          <a:xfrm>
            <a:off x="6217920" y="3922776"/>
            <a:ext cx="5257800" cy="2157984"/>
          </a:xfrm>
          <a:prstGeom prst="rect">
            <a:avLst/>
          </a:prstGeom>
          <a:noFill/>
          <a:ln/>
        </p:spPr>
        <p:txBody>
          <a:bodyPr wrap="square" rtlCol="0" anchor="t"/>
          <a:lstStyle/>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Cost-optimal threshold search across the full decision range.</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Compare SMOTE and intermediate balancing ratios.</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Add gradient-boosted models (XGBoost, LightGBM) with calibration.</a:t>
            </a:r>
            <a:endParaRPr lang="en-US" sz="1250" dirty="0"/>
          </a:p>
          <a:p>
            <a:pPr indent="0" marL="0">
              <a:lnSpc>
                <a:spcPct val="108000"/>
              </a:lnSpc>
              <a:buNone/>
            </a:pPr>
            <a:r>
              <a:rPr lang="en-US" sz="1200" dirty="0">
                <a:solidFill>
                  <a:srgbClr val="222222"/>
                </a:solidFill>
                <a:latin typeface="Calibri" pitchFamily="34" charset="0"/>
                <a:ea typeface="Calibri" pitchFamily="34" charset="-122"/>
                <a:cs typeface="Calibri" pitchFamily="34" charset="-120"/>
              </a:rPr>
              <a:t>Validate the findings on real, non-synthetic transaction data.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9. References</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32 / 37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 APA 7th Edition Style Mapping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33 / 37</a:t>
            </a:r>
            <a:endParaRPr lang="en-US" sz="900" dirty="0"/>
          </a:p>
        </p:txBody>
      </p:sp>
      <p:sp>
        <p:nvSpPr>
          <p:cNvPr id="8" name="Text 6"/>
          <p:cNvSpPr txBox="1"/>
          <p:nvPr/>
        </p:nvSpPr>
        <p:spPr>
          <a:xfrm>
            <a:off x="548640" y="1188720"/>
            <a:ext cx="11064240" cy="5120640"/>
          </a:xfrm>
          <a:prstGeom prst="rect">
            <a:avLst/>
          </a:prstGeom>
          <a:noFill/>
          <a:ln/>
        </p:spPr>
        <p:txBody>
          <a:bodyPr wrap="square" rtlCol="0" anchor="t"/>
          <a:lstStyle/>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Baisholan, N., et al. (2025). A systematic review of ML in credit card fraud detection under original class imbalance. Computers, 14(10), 437.</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Carvalho, M., Pinho, A. J., &amp; Brás, S. (2025). Resampling approaches to handle class imbalance: A review from a data perspective. Journal of Big Data, 12(1), 71.</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Chawla, N. V., et al. (2002). SMOTE: Synthetic minority over-sampling technique. Journal of AI Research, 16, 321–357.</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C-Rella, J., Cao, R., &amp; Vilar, J. M. (2024). Cost-sensitive thresholding over a two-dimensional decision region for fraud detection. Information Sciences, 657, 119956.</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Dal Pozzolo, A., et al. (2018). Credit card fraud detection: A realistic modeling and a novel learning strategy. IEEE TNNLS, 29(8), 3784–3797.</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Davis, J., &amp; Goadrich, M. (2006). The relationship between Precision-Recall and ROC curves. Proc. 23rd ICML, 233–240.</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He, H., &amp; Garcia, E. A. (2009). Learning from imbalanced data. IEEE TKDE, 21(9), 1263–1284.</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Kartik2112. (2020). Credit card transactions fraud detection dataset [Data set]. Kaggle.</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References: APA 7th Edition Style Mapping II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34 / 37</a:t>
            </a:r>
            <a:endParaRPr lang="en-US" sz="900" dirty="0"/>
          </a:p>
        </p:txBody>
      </p:sp>
      <p:sp>
        <p:nvSpPr>
          <p:cNvPr id="8" name="Text 6"/>
          <p:cNvSpPr txBox="1"/>
          <p:nvPr/>
        </p:nvSpPr>
        <p:spPr>
          <a:xfrm>
            <a:off x="548640" y="1188720"/>
            <a:ext cx="11064240" cy="5120640"/>
          </a:xfrm>
          <a:prstGeom prst="rect">
            <a:avLst/>
          </a:prstGeom>
          <a:noFill/>
          <a:ln/>
        </p:spPr>
        <p:txBody>
          <a:bodyPr wrap="square" rtlCol="0" anchor="t"/>
          <a:lstStyle/>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Liu, F. T., Ting, K. M., &amp; Zhou, Z.-H. (2008). Isolation forest. Proc. 8th IEEE ICDM, 413–422.</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Oztemel, E., &amp; Isik, M. (2025). A systematic review of intelligent systems and analytic applications in credit card fraud detection. Applied Sciences, 15(3), 1356.</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Richardson, E., et al. (2024). The receiver operating characteristic curve accurately assesses imbalanced datasets. Patterns, 5(6), 100994.</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Saito, T., &amp; Rehmsmeier, M. (2015). The precision-recall plot is more informative than the ROC plot for imbalanced datasets. PLOS ONE, 10(3), e0118432.</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Sakho, A., Malherbe, E., &amp; Scornet, E. (2024). Do we need rebalancing strategies? A theoretical and empirical study around SMOTE and its variants [Preprint]. arXiv.</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Saunders, M. N. K., Lewis, P., &amp; Thornhill, A. (2023). Research methods for business students (9th ed.). Pearson.</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Schölkopf, B., et al. (2001). Estimating the support of a high-dimensional distribution. Neural Computation, 13(7), 1443–1471.</a:t>
            </a:r>
            <a:endParaRPr lang="en-US" sz="1100" dirty="0"/>
          </a:p>
          <a:p>
            <a:pPr marL="342900" indent="-342900">
              <a:lnSpc>
                <a:spcPct val="105000"/>
              </a:lnSpc>
              <a:spcAft>
                <a:spcPts val="1000"/>
              </a:spcAft>
              <a:buSzPct val="100000"/>
              <a:buChar char="•"/>
            </a:pPr>
            <a:r>
              <a:rPr lang="en-US" sz="1100" dirty="0">
                <a:solidFill>
                  <a:srgbClr val="222222"/>
                </a:solidFill>
                <a:latin typeface="Calibri" pitchFamily="34" charset="0"/>
                <a:ea typeface="Calibri" pitchFamily="34" charset="-122"/>
                <a:cs typeface="Calibri" pitchFamily="34" charset="-120"/>
              </a:rPr>
              <a:t>Xuan, S., et al. (2018). Random forest for credit card fraud detection. IEEE 15th ICNSC, 1–6.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651760"/>
            <a:ext cx="12188952" cy="822960"/>
          </a:xfrm>
          <a:prstGeom prst="rect">
            <a:avLst/>
          </a:prstGeom>
          <a:noFill/>
          <a:ln/>
        </p:spPr>
        <p:txBody>
          <a:bodyPr wrap="square" rtlCol="0" anchor="ctr"/>
          <a:lstStyle/>
          <a:p>
            <a:pPr algn="ctr" indent="0" marL="0">
              <a:buNone/>
            </a:pPr>
            <a:r>
              <a:rPr lang="en-US" sz="4000" dirty="0">
                <a:solidFill>
                  <a:srgbClr val="222222"/>
                </a:solidFill>
                <a:latin typeface="Calibri" pitchFamily="34" charset="0"/>
                <a:ea typeface="Calibri" pitchFamily="34" charset="-122"/>
                <a:cs typeface="Calibri" pitchFamily="34" charset="-120"/>
              </a:rPr>
              <a:t>10. AI Declaration</a:t>
            </a:r>
            <a:endParaRPr lang="en-US" sz="4000" dirty="0"/>
          </a:p>
        </p:txBody>
      </p:sp>
      <p:sp>
        <p:nvSpPr>
          <p:cNvPr id="3" name="Shape 1"/>
          <p:cNvSpPr/>
          <p:nvPr/>
        </p:nvSpPr>
        <p:spPr>
          <a:xfrm>
            <a:off x="3803904" y="3520440"/>
            <a:ext cx="4572000" cy="0"/>
          </a:xfrm>
          <a:prstGeom prst="line">
            <a:avLst/>
          </a:prstGeom>
          <a:noFill/>
          <a:ln w="31750">
            <a:solidFill>
              <a:srgbClr val="E2231A"/>
            </a:solidFill>
            <a:prstDash val="solid"/>
          </a:ln>
        </p:spPr>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35 / 37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9E0059"/>
          </a:solidFill>
          <a:ln/>
        </p:spPr>
      </p:sp>
      <p:sp>
        <p:nvSpPr>
          <p:cNvPr id="3" name="Text 1"/>
          <p:cNvSpPr txBox="1"/>
          <p:nvPr/>
        </p:nvSpPr>
        <p:spPr>
          <a:xfrm>
            <a:off x="457200" y="0"/>
            <a:ext cx="1124712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AI Use Transparency Statement (AITS 2 Alignment) I</a:t>
            </a:r>
            <a:endParaRPr lang="en-US" sz="2600" dirty="0"/>
          </a:p>
        </p:txBody>
      </p:sp>
      <p:sp>
        <p:nvSpPr>
          <p:cNvPr id="4" name="Shape 2"/>
          <p:cNvSpPr/>
          <p:nvPr/>
        </p:nvSpPr>
        <p:spPr>
          <a:xfrm>
            <a:off x="0" y="6547104"/>
            <a:ext cx="12188952" cy="310896"/>
          </a:xfrm>
          <a:prstGeom prst="rect">
            <a:avLst/>
          </a:prstGeom>
          <a:solidFill>
            <a:srgbClr val="9E0059"/>
          </a:solidFill>
          <a:ln/>
        </p:spPr>
      </p:sp>
      <p:sp>
        <p:nvSpPr>
          <p:cNvPr id="5" name="Text 3"/>
          <p:cNvSpPr/>
          <p:nvPr/>
        </p:nvSpPr>
        <p:spPr>
          <a:xfrm>
            <a:off x="228600" y="6547104"/>
            <a:ext cx="3657600" cy="310896"/>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P. Patel Vikasbhai (SHU)</a:t>
            </a:r>
            <a:endParaRPr lang="en-US" sz="900" dirty="0"/>
          </a:p>
        </p:txBody>
      </p:sp>
      <p:sp>
        <p:nvSpPr>
          <p:cNvPr id="6" name="Text 4"/>
          <p:cNvSpPr/>
          <p:nvPr/>
        </p:nvSpPr>
        <p:spPr>
          <a:xfrm>
            <a:off x="3931920" y="6547104"/>
            <a:ext cx="4389120" cy="310896"/>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Credit Card Fraud Detection — MSc DS&amp;AI</a:t>
            </a:r>
            <a:endParaRPr lang="en-US" sz="900" dirty="0"/>
          </a:p>
        </p:txBody>
      </p:sp>
      <p:sp>
        <p:nvSpPr>
          <p:cNvPr id="7" name="Text 5"/>
          <p:cNvSpPr/>
          <p:nvPr/>
        </p:nvSpPr>
        <p:spPr>
          <a:xfrm>
            <a:off x="8412480" y="6547104"/>
            <a:ext cx="3566160" cy="310896"/>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[Insert submission date]    36 / 37</a:t>
            </a:r>
            <a:endParaRPr lang="en-US" sz="900" dirty="0"/>
          </a:p>
        </p:txBody>
      </p:sp>
      <p:sp>
        <p:nvSpPr>
          <p:cNvPr id="8" name="Shape 6"/>
          <p:cNvSpPr/>
          <p:nvPr/>
        </p:nvSpPr>
        <p:spPr>
          <a:xfrm>
            <a:off x="548640" y="1234440"/>
            <a:ext cx="11064240" cy="310896"/>
          </a:xfrm>
          <a:prstGeom prst="rect">
            <a:avLst/>
          </a:prstGeom>
          <a:solidFill>
            <a:srgbClr val="700040"/>
          </a:solidFill>
          <a:ln/>
        </p:spPr>
      </p:sp>
      <p:sp>
        <p:nvSpPr>
          <p:cNvPr id="9" name="Text 7"/>
          <p:cNvSpPr txBox="1"/>
          <p:nvPr/>
        </p:nvSpPr>
        <p:spPr>
          <a:xfrm>
            <a:off x="548640" y="1234440"/>
            <a:ext cx="11064240" cy="310896"/>
          </a:xfrm>
          <a:prstGeom prst="rect">
            <a:avLst/>
          </a:prstGeom>
          <a:noFill/>
          <a:ln/>
        </p:spPr>
        <p:txBody>
          <a:bodyPr wrap="square" lIns="91440" tIns="91440" rIns="91440" bIns="9144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Transparency Scale (AITS) Declaration</a:t>
            </a:r>
            <a:endParaRPr lang="en-US" sz="1300" dirty="0"/>
          </a:p>
        </p:txBody>
      </p:sp>
      <p:sp>
        <p:nvSpPr>
          <p:cNvPr id="10" name="Shape 8"/>
          <p:cNvSpPr/>
          <p:nvPr/>
        </p:nvSpPr>
        <p:spPr>
          <a:xfrm>
            <a:off x="548640" y="1545336"/>
            <a:ext cx="11064240" cy="557784"/>
          </a:xfrm>
          <a:prstGeom prst="rect">
            <a:avLst/>
          </a:prstGeom>
          <a:solidFill>
            <a:srgbClr val="F7EAF1"/>
          </a:solidFill>
          <a:ln/>
        </p:spPr>
      </p:sp>
      <p:sp>
        <p:nvSpPr>
          <p:cNvPr id="11" name="Text 9"/>
          <p:cNvSpPr txBox="1"/>
          <p:nvPr/>
        </p:nvSpPr>
        <p:spPr>
          <a:xfrm>
            <a:off x="685800" y="1636776"/>
            <a:ext cx="10789920" cy="374904"/>
          </a:xfrm>
          <a:prstGeom prst="rect">
            <a:avLst/>
          </a:prstGeom>
          <a:noFill/>
          <a:ln/>
        </p:spPr>
        <p:txBody>
          <a:bodyPr wrap="square" rtlCol="0" anchor="t"/>
          <a:lstStyle/>
          <a:p>
            <a:pPr indent="0" marL="0">
              <a:lnSpc>
                <a:spcPct val="108000"/>
              </a:lnSpc>
              <a:buNone/>
            </a:pPr>
            <a:r>
              <a:rPr lang="en-US" sz="1300" b="1" dirty="0">
                <a:solidFill>
                  <a:srgbClr val="700040"/>
                </a:solidFill>
                <a:latin typeface="Calibri" pitchFamily="34" charset="0"/>
                <a:ea typeface="Calibri" pitchFamily="34" charset="-122"/>
                <a:cs typeface="Calibri" pitchFamily="34" charset="-120"/>
              </a:rPr>
              <a:t>This assessment aligns with AITS Level 2 (AI for Shaping), permitted under university academic conduct policy.</a:t>
            </a:r>
            <a:endParaRPr lang="en-US" sz="1250" dirty="0"/>
          </a:p>
        </p:txBody>
      </p:sp>
      <p:sp>
        <p:nvSpPr>
          <p:cNvPr id="12" name="Text 10"/>
          <p:cNvSpPr txBox="1"/>
          <p:nvPr/>
        </p:nvSpPr>
        <p:spPr>
          <a:xfrm>
            <a:off x="548640" y="2331720"/>
            <a:ext cx="11064240" cy="3931920"/>
          </a:xfrm>
          <a:prstGeom prst="rect">
            <a:avLst/>
          </a:prstGeom>
          <a:noFill/>
          <a:ln/>
        </p:spPr>
        <p:txBody>
          <a:bodyPr wrap="square" rtlCol="0" anchor="t"/>
          <a:lstStyle/>
          <a:p>
            <a:pPr marL="342900" indent="-342900">
              <a:lnSpc>
                <a:spcPct val="105000"/>
              </a:lnSpc>
              <a:spcAft>
                <a:spcPts val="1400"/>
              </a:spcAft>
              <a:buSzPct val="100000"/>
              <a:buChar char="•"/>
            </a:pPr>
            <a:r>
              <a:rPr lang="en-US" sz="1300" b="1" dirty="0">
                <a:solidFill>
                  <a:srgbClr val="700040"/>
                </a:solidFill>
                <a:latin typeface="Calibri" pitchFamily="34" charset="0"/>
                <a:ea typeface="Calibri" pitchFamily="34" charset="-122"/>
                <a:cs typeface="Calibri" pitchFamily="34" charset="-120"/>
              </a:rPr>
              <a:t>AI tools used: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a general-purpose AI writing assistant, used during the preparation of the written report.</a:t>
            </a:r>
            <a:endParaRPr lang="en-US" sz="1300" dirty="0"/>
          </a:p>
          <a:p>
            <a:pPr marL="342900" indent="-342900">
              <a:lnSpc>
                <a:spcPct val="105000"/>
              </a:lnSpc>
              <a:spcAft>
                <a:spcPts val="1400"/>
              </a:spcAft>
              <a:buSzPct val="100000"/>
              <a:buChar char="•"/>
            </a:pPr>
            <a:r>
              <a:rPr lang="en-US" sz="1300" b="1" dirty="0">
                <a:solidFill>
                  <a:srgbClr val="700040"/>
                </a:solidFill>
                <a:latin typeface="Calibri" pitchFamily="34" charset="0"/>
                <a:ea typeface="Calibri" pitchFamily="34" charset="-122"/>
                <a:cs typeface="Calibri" pitchFamily="34" charset="-120"/>
              </a:rPr>
              <a:t>Purpose of AI use: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preliminary brainstorming, structuring chapter and section outlines, and copy-editing to enhance clarity and consistent terminology.</a:t>
            </a:r>
            <a:endParaRPr lang="en-US" sz="1300" dirty="0"/>
          </a:p>
          <a:p>
            <a:pPr marL="342900" indent="-342900">
              <a:lnSpc>
                <a:spcPct val="105000"/>
              </a:lnSpc>
              <a:spcAft>
                <a:spcPts val="1400"/>
              </a:spcAft>
              <a:buSzPct val="100000"/>
              <a:buChar char="•"/>
            </a:pPr>
            <a:r>
              <a:rPr lang="en-US" sz="1300" b="1" dirty="0">
                <a:solidFill>
                  <a:srgbClr val="700040"/>
                </a:solidFill>
                <a:latin typeface="Calibri" pitchFamily="34" charset="0"/>
                <a:ea typeface="Calibri" pitchFamily="34" charset="-122"/>
                <a:cs typeface="Calibri" pitchFamily="34" charset="-120"/>
              </a:rPr>
              <a:t>Human contribution: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all design choices, all code used for analysis, all experiments, and all numbers presented were authored independently. Each reference was independently verified against the publisher's listing or the Crossref registry.</a:t>
            </a:r>
            <a:endParaRPr lang="en-US" sz="1300" dirty="0"/>
          </a:p>
          <a:p>
            <a:pPr marL="342900" indent="-342900">
              <a:lnSpc>
                <a:spcPct val="105000"/>
              </a:lnSpc>
              <a:spcAft>
                <a:spcPts val="1400"/>
              </a:spcAft>
              <a:buSzPct val="100000"/>
              <a:buChar char="•"/>
            </a:pPr>
            <a:r>
              <a:rPr lang="en-US" sz="1300" b="1" dirty="0">
                <a:solidFill>
                  <a:srgbClr val="700040"/>
                </a:solidFill>
                <a:latin typeface="Calibri" pitchFamily="34" charset="0"/>
                <a:ea typeface="Calibri" pitchFamily="34" charset="-122"/>
                <a:cs typeface="Calibri" pitchFamily="34" charset="-120"/>
              </a:rPr>
              <a:t>Reflection on AI use: </a:t>
            </a:r>
            <a:pPr indent="0" marL="0">
              <a:lnSpc>
                <a:spcPct val="105000"/>
              </a:lnSpc>
              <a:buNone/>
            </a:pPr>
            <a:r>
              <a:rPr lang="en-US" sz="1300" dirty="0">
                <a:solidFill>
                  <a:srgbClr val="222222"/>
                </a:solidFill>
                <a:latin typeface="Calibri" pitchFamily="34" charset="0"/>
                <a:ea typeface="Calibri" pitchFamily="34" charset="-122"/>
                <a:cs typeface="Calibri" pitchFamily="34" charset="-120"/>
              </a:rPr>
              <a:t> AI helped structure the report and refine language, but every technical statement and number was cross-checked manually against the notebook outputs before being written down.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9E0059"/>
        </a:solidFill>
      </p:bgPr>
    </p:bg>
    <p:spTree>
      <p:nvGrpSpPr>
        <p:cNvPr id="1" name=""/>
        <p:cNvGrpSpPr/>
        <p:nvPr/>
      </p:nvGrpSpPr>
      <p:grpSpPr>
        <a:xfrm>
          <a:off x="0" y="0"/>
          <a:ext cx="0" cy="0"/>
          <a:chOff x="0" y="0"/>
          <a:chExt cx="0" cy="0"/>
        </a:xfrm>
      </p:grpSpPr>
      <p:sp>
        <p:nvSpPr>
          <p:cNvPr id="2" name="Text 0"/>
          <p:cNvSpPr txBox="1"/>
          <p:nvPr/>
        </p:nvSpPr>
        <p:spPr>
          <a:xfrm>
            <a:off x="0" y="2377440"/>
            <a:ext cx="12188952" cy="9144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 name="Text 1"/>
          <p:cNvSpPr txBox="1"/>
          <p:nvPr/>
        </p:nvSpPr>
        <p:spPr>
          <a:xfrm>
            <a:off x="0" y="3291840"/>
            <a:ext cx="12188952" cy="548640"/>
          </a:xfrm>
          <a:prstGeom prst="rect">
            <a:avLst/>
          </a:prstGeom>
          <a:noFill/>
          <a:ln/>
        </p:spPr>
        <p:txBody>
          <a:bodyPr wrap="square" rtlCol="0" anchor="ctr"/>
          <a:lstStyle/>
          <a:p>
            <a:pPr algn="ctr" indent="0" marL="0">
              <a:buNone/>
            </a:pPr>
            <a:r>
              <a:rPr lang="en-US" sz="1800" dirty="0">
                <a:solidFill>
                  <a:srgbClr val="F3D6E4"/>
                </a:solidFill>
                <a:latin typeface="Calibri" pitchFamily="34" charset="0"/>
                <a:ea typeface="Calibri" pitchFamily="34" charset="-122"/>
                <a:cs typeface="Calibri" pitchFamily="34" charset="-120"/>
              </a:rPr>
              <a:t>Questions &amp; Academic Discussion Welcome</a:t>
            </a:r>
            <a:endParaRPr lang="en-US" sz="1800" dirty="0"/>
          </a:p>
        </p:txBody>
      </p:sp>
      <p:sp>
        <p:nvSpPr>
          <p:cNvPr id="4" name="Text 2"/>
          <p:cNvSpPr txBox="1"/>
          <p:nvPr/>
        </p:nvSpPr>
        <p:spPr>
          <a:xfrm>
            <a:off x="0" y="4206240"/>
            <a:ext cx="12188952"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Primary Contact Address:</a:t>
            </a:r>
            <a:endParaRPr lang="en-US" sz="1300" dirty="0"/>
          </a:p>
        </p:txBody>
      </p:sp>
      <p:sp>
        <p:nvSpPr>
          <p:cNvPr id="5" name="Text 3"/>
          <p:cNvSpPr txBox="1"/>
          <p:nvPr/>
        </p:nvSpPr>
        <p:spPr>
          <a:xfrm>
            <a:off x="0" y="4572000"/>
            <a:ext cx="12188952" cy="365760"/>
          </a:xfrm>
          <a:prstGeom prst="rect">
            <a:avLst/>
          </a:prstGeom>
          <a:noFill/>
          <a:ln/>
        </p:spPr>
        <p:txBody>
          <a:bodyPr wrap="square"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[Insert SHU student email]</a:t>
            </a:r>
            <a:endParaRPr lang="en-US" sz="1300" dirty="0"/>
          </a:p>
        </p:txBody>
      </p:sp>
      <p:sp>
        <p:nvSpPr>
          <p:cNvPr id="6" name="Text 4"/>
          <p:cNvSpPr txBox="1"/>
          <p:nvPr/>
        </p:nvSpPr>
        <p:spPr>
          <a:xfrm>
            <a:off x="0" y="6547104"/>
            <a:ext cx="12188952" cy="310896"/>
          </a:xfrm>
          <a:prstGeom prst="rect">
            <a:avLst/>
          </a:prstGeom>
          <a:noFill/>
          <a:ln/>
        </p:spPr>
        <p:txBody>
          <a:bodyPr wrap="square" rtlCol="0" anchor="ctr"/>
          <a:lstStyle/>
          <a:p>
            <a:pPr algn="ctr" indent="0" marL="0">
              <a:buNone/>
            </a:pPr>
            <a:r>
              <a:rPr lang="en-US" sz="900" dirty="0">
                <a:solidFill>
                  <a:srgbClr val="F3D6E4"/>
                </a:solidFill>
                <a:latin typeface="Calibri" pitchFamily="34" charset="0"/>
                <a:ea typeface="Calibri" pitchFamily="34" charset="-122"/>
                <a:cs typeface="Calibri" pitchFamily="34" charset="-120"/>
              </a:rPr>
              <a:t>P. Patel Vikasbhai (SHU)    Credit Card Fraud Detection — MSc DS&amp;AI    37 / 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2026-09-08T19:34:20Z</dcterms:created>
  <dcterms:modified xsi:type="dcterms:W3CDTF">2026-09-08T19:34:20Z</dcterms:modified>
</cp:coreProperties>
</file>